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1957af432d42f2" /><Relationship Type="http://schemas.openxmlformats.org/officeDocument/2006/relationships/extended-properties" Target="/docProps/app.xml" Id="Rc244837a9f5c4f4b" /><Relationship Type="http://schemas.openxmlformats.org/officeDocument/2006/relationships/officeDocument" Target="/ppt/presentation.xml" Id="Rc18c1eadd7df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a64cb8439c4143"/>
  </p:sldMasterIdLst>
  <p:notesMasterIdLst>
    <p:notesMasterId xmlns:r="http://schemas.openxmlformats.org/officeDocument/2006/relationships" r:id="R5cd1f78b56364814"/>
  </p:notesMasterIdLst>
  <p:sldIdLst>
    <p:sldId xmlns:r="http://schemas.openxmlformats.org/officeDocument/2006/relationships" id="256" r:id="R9d84d0ed11254425"/>
    <p:sldId xmlns:r="http://schemas.openxmlformats.org/officeDocument/2006/relationships" id="257" r:id="R09e394f15835462f"/>
    <p:sldId xmlns:r="http://schemas.openxmlformats.org/officeDocument/2006/relationships" id="258" r:id="Rc9ac731a72e44e62"/>
    <p:sldId xmlns:r="http://schemas.openxmlformats.org/officeDocument/2006/relationships" id="259" r:id="R295d24d133f6476a"/>
    <p:sldId xmlns:r="http://schemas.openxmlformats.org/officeDocument/2006/relationships" id="260" r:id="Rbbe3b79b906f41e5"/>
    <p:sldId xmlns:r="http://schemas.openxmlformats.org/officeDocument/2006/relationships" id="261" r:id="R445f76717ce24152"/>
    <p:sldId xmlns:r="http://schemas.openxmlformats.org/officeDocument/2006/relationships" id="262" r:id="R3efaf28dcfa949b1"/>
    <p:sldId xmlns:r="http://schemas.openxmlformats.org/officeDocument/2006/relationships" id="263" r:id="R63cd343875974af2"/>
    <p:sldId xmlns:r="http://schemas.openxmlformats.org/officeDocument/2006/relationships" id="264" r:id="R9064c2dff4d54630"/>
    <p:sldId xmlns:r="http://schemas.openxmlformats.org/officeDocument/2006/relationships" id="265" r:id="R651bea55e2844ee1"/>
    <p:sldId xmlns:r="http://schemas.openxmlformats.org/officeDocument/2006/relationships" id="266" r:id="R23f1c7fb1b164f9d"/>
    <p:sldId xmlns:r="http://schemas.openxmlformats.org/officeDocument/2006/relationships" id="267" r:id="R91b27df9cf4b41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8957c71574fe6" /><Relationship Type="http://schemas.openxmlformats.org/officeDocument/2006/relationships/slideMaster" Target="/ppt/slideMasters/slideMaster1.xml" Id="R08a64cb8439c4143" /><Relationship Type="http://schemas.openxmlformats.org/officeDocument/2006/relationships/notesMaster" Target="/ppt/notesMasters/notesMaster1.xml" Id="R5cd1f78b56364814" /><Relationship Type="http://schemas.openxmlformats.org/officeDocument/2006/relationships/presProps" Target="/ppt/presProps.xml" Id="R8f14ab3997d043b6" /><Relationship Type="http://schemas.openxmlformats.org/officeDocument/2006/relationships/tableStyles" Target="/ppt/tableStyles.xml" Id="Rc22c4a08f3264fb5" /><Relationship Type="http://schemas.openxmlformats.org/officeDocument/2006/relationships/slide" Target="/ppt/slides/slide1.xml" Id="R9d84d0ed11254425" /><Relationship Type="http://schemas.openxmlformats.org/officeDocument/2006/relationships/slide" Target="/ppt/slides/slide2.xml" Id="R09e394f15835462f" /><Relationship Type="http://schemas.openxmlformats.org/officeDocument/2006/relationships/slide" Target="/ppt/slides/slide3.xml" Id="Rc9ac731a72e44e62" /><Relationship Type="http://schemas.openxmlformats.org/officeDocument/2006/relationships/slide" Target="/ppt/slides/slide4.xml" Id="R295d24d133f6476a" /><Relationship Type="http://schemas.openxmlformats.org/officeDocument/2006/relationships/slide" Target="/ppt/slides/slide5.xml" Id="Rbbe3b79b906f41e5" /><Relationship Type="http://schemas.openxmlformats.org/officeDocument/2006/relationships/slide" Target="/ppt/slides/slide6.xml" Id="R445f76717ce24152" /><Relationship Type="http://schemas.openxmlformats.org/officeDocument/2006/relationships/slide" Target="/ppt/slides/slide7.xml" Id="R3efaf28dcfa949b1" /><Relationship Type="http://schemas.openxmlformats.org/officeDocument/2006/relationships/slide" Target="/ppt/slides/slide8.xml" Id="R63cd343875974af2" /><Relationship Type="http://schemas.openxmlformats.org/officeDocument/2006/relationships/slide" Target="/ppt/slides/slide9.xml" Id="R9064c2dff4d54630" /><Relationship Type="http://schemas.openxmlformats.org/officeDocument/2006/relationships/slide" Target="/ppt/slides/slide10.xml" Id="R651bea55e2844ee1" /><Relationship Type="http://schemas.openxmlformats.org/officeDocument/2006/relationships/slide" Target="/ppt/slides/slide11.xml" Id="R23f1c7fb1b164f9d" /><Relationship Type="http://schemas.openxmlformats.org/officeDocument/2006/relationships/slide" Target="/ppt/slides/slide12.xml" Id="R91b27df9cf4b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e8723cb11e4f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17708255b4294" /><Relationship Type="http://schemas.openxmlformats.org/officeDocument/2006/relationships/notesMaster" Target="/ppt/notesMasters/notesMaster1.xml" Id="R4183891d8cc14e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1c5707d8e4910" /><Relationship Type="http://schemas.openxmlformats.org/officeDocument/2006/relationships/notesMaster" Target="/ppt/notesMasters/notesMaster1.xml" Id="R7507ec88556a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1b470ac104e77" /><Relationship Type="http://schemas.openxmlformats.org/officeDocument/2006/relationships/notesMaster" Target="/ppt/notesMasters/notesMaster1.xml" Id="Re220c29dc1ea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4c5f8158a040ab" /><Relationship Type="http://schemas.openxmlformats.org/officeDocument/2006/relationships/notesMaster" Target="/ppt/notesMasters/notesMaster1.xml" Id="Re2a54f59dff0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beb9059caf477b" /><Relationship Type="http://schemas.openxmlformats.org/officeDocument/2006/relationships/notesMaster" Target="/ppt/notesMasters/notesMaster1.xml" Id="R18e6c5b8b3824d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492809d5754a9c" /><Relationship Type="http://schemas.openxmlformats.org/officeDocument/2006/relationships/notesMaster" Target="/ppt/notesMasters/notesMaster1.xml" Id="Rfb188c1122ef4d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5f4c481d047ad" /><Relationship Type="http://schemas.openxmlformats.org/officeDocument/2006/relationships/notesMaster" Target="/ppt/notesMasters/notesMaster1.xml" Id="R7e5c560690354c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b6e0da95e64f3a" /><Relationship Type="http://schemas.openxmlformats.org/officeDocument/2006/relationships/notesMaster" Target="/ppt/notesMasters/notesMaster1.xml" Id="R1f7a60d164ca4d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b69af46f094c04" /><Relationship Type="http://schemas.openxmlformats.org/officeDocument/2006/relationships/notesMaster" Target="/ppt/notesMasters/notesMaster1.xml" Id="Rdff2354e76664a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a35a9d44a642be" /><Relationship Type="http://schemas.openxmlformats.org/officeDocument/2006/relationships/notesMaster" Target="/ppt/notesMasters/notesMaster1.xml" Id="R4291f25006bf4e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f288e79f14bd0" /><Relationship Type="http://schemas.openxmlformats.org/officeDocument/2006/relationships/notesMaster" Target="/ppt/notesMasters/notesMaster1.xml" Id="R9c01e1d90f4541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b3b1ae0d1a46a4" /><Relationship Type="http://schemas.openxmlformats.org/officeDocument/2006/relationships/notesMaster" Target="/ppt/notesMasters/notesMaster1.xml" Id="Rff3e8e699a14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f5df2fba848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db3c76343e4656" /><Relationship Type="http://schemas.openxmlformats.org/officeDocument/2006/relationships/slideLayout" Target="/ppt/slideLayouts/slideLayout1.xml" Id="R68b9e60606a44c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b9e60606a44c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4ab8650fa4d5d" /><Relationship Type="http://schemas.openxmlformats.org/officeDocument/2006/relationships/notesSlide" Target="/ppt/notesSlides/notesSlide1.xml" Id="Rcbaffaffc3d8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74c949ccd4277" /><Relationship Type="http://schemas.openxmlformats.org/officeDocument/2006/relationships/image" Target="/ppt/media/image.png" Id="Rdd9a8d0d693540cc" /><Relationship Type="http://schemas.openxmlformats.org/officeDocument/2006/relationships/notesSlide" Target="/ppt/notesSlides/notesSlide2.xml" Id="R6615ade56c43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2a3835da74add" /><Relationship Type="http://schemas.openxmlformats.org/officeDocument/2006/relationships/notesSlide" Target="/ppt/notesSlides/notesSlide3.xml" Id="R789acb0e5537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9b3971d5244ab" /><Relationship Type="http://schemas.openxmlformats.org/officeDocument/2006/relationships/notesSlide" Target="/ppt/notesSlides/notesSlide4.xml" Id="R70bae82fa93548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5b5ab75794c01" /><Relationship Type="http://schemas.openxmlformats.org/officeDocument/2006/relationships/image" Target="/ppt/media/image2.png" Id="R2b55518b6b664416" /><Relationship Type="http://schemas.openxmlformats.org/officeDocument/2006/relationships/image" Target="/ppt/media/image3.png" Id="R03728cf5c3d343f2" /><Relationship Type="http://schemas.openxmlformats.org/officeDocument/2006/relationships/notesSlide" Target="/ppt/notesSlides/notesSlide5.xml" Id="Ra42f3da4805f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8f812df694f0a" /><Relationship Type="http://schemas.openxmlformats.org/officeDocument/2006/relationships/notesSlide" Target="/ppt/notesSlides/notesSlide6.xml" Id="R6b139f2f025c4a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96591dfe4a94" /><Relationship Type="http://schemas.openxmlformats.org/officeDocument/2006/relationships/notesSlide" Target="/ppt/notesSlides/notesSlide7.xml" Id="R93647902df1841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8347f69f543cd" /><Relationship Type="http://schemas.openxmlformats.org/officeDocument/2006/relationships/notesSlide" Target="/ppt/notesSlides/notesSlide8.xml" Id="R12d07552eef94e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816d1738548ef" /><Relationship Type="http://schemas.openxmlformats.org/officeDocument/2006/relationships/image" Target="/ppt/media/image4.png" Id="R771c525bc14b4e2e" /><Relationship Type="http://schemas.openxmlformats.org/officeDocument/2006/relationships/image" Target="/ppt/media/image5.png" Id="R8fa1ccb9fe874879" /><Relationship Type="http://schemas.openxmlformats.org/officeDocument/2006/relationships/notesSlide" Target="/ppt/notesSlides/notesSlide9.xml" Id="Rf3b6d351d53548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208b58c894540" /><Relationship Type="http://schemas.openxmlformats.org/officeDocument/2006/relationships/image" Target="/ppt/media/image6.png" Id="R03b892d157a847ea" /><Relationship Type="http://schemas.openxmlformats.org/officeDocument/2006/relationships/image" Target="/ppt/media/image7.png" Id="R22550be3224248fa" /><Relationship Type="http://schemas.openxmlformats.org/officeDocument/2006/relationships/image" Target="/ppt/media/image8.png" Id="R816a1e31ddbc4c93" /><Relationship Type="http://schemas.openxmlformats.org/officeDocument/2006/relationships/notesSlide" Target="/ppt/notesSlides/notesSlide10.xml" Id="R2de6b62de1cd46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8f6cdffe042db" /><Relationship Type="http://schemas.openxmlformats.org/officeDocument/2006/relationships/notesSlide" Target="/ppt/notesSlides/notesSlide11.xml" Id="R87316c6488de46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036ac94a948e7" /><Relationship Type="http://schemas.openxmlformats.org/officeDocument/2006/relationships/notesSlide" Target="/ppt/notesSlides/notesSlide12.xml" Id="R6c81a5bf36624c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F50AF-23F3-4408-9AD7-B1939D58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11111"/>
                </a:solidFill>
              </a:defRPr>
            </a:pPr>
            <a:r>
              <a:rPr sz="3900" b="1" i="0">
                <a:solidFill>
                  <a:srgbClr val="111111"/>
                </a:solidFill>
              </a:rPr>
              <a:t>Routing Models for Local VLMs on the SciVer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1E16F-B73B-4294-9CA1-C379727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AC658-32B3-4CE8-80A2-113D5B5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Conglong Xu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BFCE1-A1EF-49CE-BFA5-B0D23827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55555"/>
                </a:solidFill>
              </a:defRPr>
            </a:pPr>
            <a:r>
              <a:rPr sz="1725" b="0" i="0">
                <a:solidFill>
                  <a:srgbClr val="555555"/>
                </a:solidFill>
              </a:rPr>
              <a:t>George Washington University</a:t>
            </a:r>
          </a:p>
          <a:p xmlns:a="http://schemas.openxmlformats.org/drawingml/2006/main">
            <a:pPr algn="l">
              <a:defRPr sz="1725" b="0" i="0">
                <a:solidFill>
                  <a:srgbClr val="555555"/>
                </a:solidFill>
              </a:defRPr>
            </a:pPr>
            <a:r>
              <a:rPr sz="1725" b="0" i="0">
                <a:solidFill>
                  <a:srgbClr val="555555"/>
                </a:solidFill>
              </a:rPr>
              <a:t>Department of Mathematics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3968-3A05-4946-A5C5-50E7A922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0965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0815A-57D3-4BDA-B13E-EC13C53B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251A3-D07D-446A-B41A-3B61BD35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SciVer is a multimodal chart-claim verification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C0604-468B-4B83-A04B-7DBC258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20C63-E25B-4CF7-BA0C-6404E97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6675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a8d0d693540cc"/>
          <a:stretch xmlns:a="http://schemas.openxmlformats.org/drawingml/2006/main"/>
        </p:blipFill>
        <p:spPr>
          <a:xfrm xmlns:a="http://schemas.openxmlformats.org/drawingml/2006/main">
            <a:off x="1315915" y="1752600"/>
            <a:ext cx="5064369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833A7-C671-4D3A-9A7A-5C790664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Why this task motivates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88234-8BC8-4BFB-B597-213C408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4E8AD-24B6-4EAC-B9BB-4178F941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Each example pairs a scientific claim with multimodal paper evidence: text, charts, and tables.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DB8C6-A6E3-4B08-8585-4B5B86F5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269EF-7075-483A-AB47-CF976E12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62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SciVer distinguishes direct, parallel, sequential, and analytical reasoning subsets.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655F8-40F8-422F-9E2B-92180463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131BA-28F2-4F70-95A9-C97C5478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528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The original paper reports best average test accuracy of 77.7% for o4-mini versus 93.8% human expert accuracy.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D7E13-67CF-4BD0-BFC3-2F5B7F9D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686BE-FC9D-4966-AE58-17D14CB5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433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A router can preprocess each chart-claim pair and assign it to the VLM predicted to perform best.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40636-3801-40FD-A600-734E369F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Source: Wang et al., SciVer, arXiv:2506.15569, Figure 1 and Table 3. The same paper reports GPT-4.1 at 70.8% on analytical reasoning versus 90.0% for human experts.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BA3F9-365C-453F-847B-F10CF078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8379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B8639-5BA8-47E5-B681-6C83798C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E82B4-0201-49E7-8DAC-6BAE983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The router workflow separates selection from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20C56-063A-40A0-A724-769283B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C16E8-0588-4070-A77E-FC733F8A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14FFC-30BE-4545-983F-A973C691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1. Build the matched, sanitized three-VLM router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565-1B7B-470E-98AC-BBCAE15D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62814-BAC3-4919-AAE6-063339A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2. Construct base, chart-TDA, claim-NLP, and combined feature 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9C1AB-1C5F-4C78-BC98-D850D53D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6F736-DEBF-419F-A886-4DB58B62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3. Split by paper_id into grouped train/validation/test 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AF3E5-C8D1-4752-9C82-EAB9130A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40286-EE21-43F3-ACE6-044651EA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4. Select hyperparameters by grouped 10-fold CV using either mean-regret-first or top-1-first ranking.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CEDD9-99A6-4305-BDA0-7847CB0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6ADD6-F810-4C90-9ED9-E5D2FB0F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5. Refit the selected hyperparameters on train+validation and evaluate once on grouped 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6E565-578E-4AFD-BBED-9EF6DE5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1D5AD-3E27-446E-847A-01B03DA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6. Train a final all-data model for future use after evaluation artifacts are written.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5810250" y="1771650"/>
          <a:ext xmlns:a="http://schemas.openxmlformats.org/drawingml/2006/main" cx="5334000" cy="3314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66850"/>
                <a:gridCol w="1800225"/>
                <a:gridCol w="2066925"/>
              </a:tblGrid>
              <a:tr h="47352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router split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paper groups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train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568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434</a:t>
                      </a:r>
                    </a:p>
                  </a:txBody>
                  <a:tcPr marL="57150" marR="57150" marT="38100" marB="38100"/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validation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123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95</a:t>
                      </a:r>
                    </a:p>
                  </a:txBody>
                  <a:tcPr marL="57150" marR="57150" marT="38100" marB="38100"/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test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120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90</a:t>
                      </a:r>
                    </a:p>
                  </a:txBody>
                  <a:tcPr marL="57150" marR="57150" marT="38100" marB="38100"/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grouped CV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10 folds inside train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paper_id kept intact</a:t>
                      </a:r>
                    </a:p>
                  </a:txBody>
                  <a:tcPr marL="57150" marR="57150" marT="38100" marB="38100"/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bootstrap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1,000 held-out resamples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resampled with replacement</a:t>
                      </a:r>
                    </a:p>
                  </a:txBody>
                  <a:tcPr marL="57150" marR="57150" marT="38100" marB="38100"/>
                </a:tc>
              </a:tr>
              <a:tr h="47352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seed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215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/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09615-9E1C-4644-B993-EC63C8EB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34000"/>
            <a:ext cx="527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555"/>
                </a:solidFill>
              </a:defRPr>
            </a:pPr>
            <a:r>
              <a:rPr sz="1350" b="0" i="0">
                <a:solidFill>
                  <a:srgbClr val="555555"/>
                </a:solidFill>
              </a:rPr>
              <a:t>Key guardrail: paper_id groups stay intact through train/validation/test and through the 10-fold CV inside the training split.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0EC29-6E47-4DD1-94BF-A3124AA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2563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81E2A-AD0D-44A2-8E95-1D82DFD7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A42AC-317C-4C94-B902-1D1F9B5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Key definitions for router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19E1B-4ADF-4C97-897C-0C4459A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B5C86-0DDE-43AE-A817-6EC1CCF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424A3-CF26-4F86-9672-71AF494B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487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Observed five-run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3C015-330E-4504-A99F-6A7A699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fraction of five local runs that match the SciVer label for each item and VLM; target labels and regret are noisy when VLMs tie.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5F6C8-19EC-43E0-972C-FA6EB793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D9C76-0E31-4BD8-BFF4-C87B4295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87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Router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AC91-3FD5-402C-858B-12B50C2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train one regression target per VLM accuracy, then select the VLM with the highest predicted accuracy.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F0F85-77BB-4DF5-A014-136EB89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DA4A3-9E5F-46D9-B8E0-CF7AC17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87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Top-1 hit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C90F8-0260-44AB-81C5-E9F0F738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fraction of held-out examples where the routed VLM is one of the observed best VLMs, counting ties as hits.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D583E-C21D-4722-821C-DD0522BF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0FD07-8133-4D93-B6E5-FD2405F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7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Regret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59E8E-6086-422B-AFF0-F01964C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55555"/>
                </a:solidFill>
              </a:defRPr>
            </a:pPr>
            <a:r>
              <a:rPr sz="1050" b="0" i="0">
                <a:solidFill>
                  <a:srgbClr val="555555"/>
                </a:solidFill>
              </a:rPr>
              <a:t>observed best accuracy minus the selected VLM's observed accuracy. Lower is better; zero means the router picked a best VLM.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8164F-D1ED-4ABF-97A3-C657C19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896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E54CA-FC04-40A8-B281-98A50FE7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055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Grouped 10-fold CV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9A43D-9F10-4B8E-A82C-1AE81D1B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1055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training paper groups are split into 10 folds; each candidate trains on 9 folds, predicts the held-out fold, and every paper_id stays in one fold.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82BBE-D127-4F66-A657-74432953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73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A0390-91A1-4036-8EA3-FD8549FC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1B27B-BB2B-4305-ADA8-72D626BF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Close VLM performance makes ties and switching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C26E1-D812-445B-9F9E-078538F6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5518b6b664416"/>
          <a:stretch xmlns:a="http://schemas.openxmlformats.org/drawingml/2006/main"/>
        </p:blipFill>
        <p:spPr>
          <a:xfrm xmlns:a="http://schemas.openxmlformats.org/drawingml/2006/main">
            <a:off x="1036339" y="1676400"/>
            <a:ext cx="4175723" cy="23622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28cf5c3d343f2"/>
          <a:stretch xmlns:a="http://schemas.openxmlformats.org/drawingml/2006/main"/>
        </p:blipFill>
        <p:spPr>
          <a:xfrm xmlns:a="http://schemas.openxmlformats.org/drawingml/2006/main">
            <a:off x="7065317" y="1676400"/>
            <a:ext cx="3966867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9F057-63D1-489E-AC03-328E8B48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</a:defRPr>
            </a:pPr>
            <a:r>
              <a:rPr sz="825" b="0" i="0">
                <a:solidFill>
                  <a:srgbClr val="555555"/>
                </a:solidFill>
              </a:rPr>
              <a:t>Because each item has five local repeats, observed accuracy can only take the six discrete values [0.0, 0.2, 0.4, 0.6, 0.8, 1.0]. Each group of bars shows how many chart-claim items fall at that accuracy value for each VLM.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10876-7539-4070-9862-444A0D0A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55555"/>
                </a:solidFill>
              </a:defRPr>
            </a:pPr>
            <a:r>
              <a:rPr sz="825" b="0" i="0">
                <a:solidFill>
                  <a:srgbClr val="555555"/>
                </a:solidFill>
              </a:rPr>
              <a:t>Counts show which VLM or tie-set has the highest observed five-run accuracy for an item. Best-model targets are recomputed only over Qwen3-VL, Pixtral12B, and Kimi-VL-A3B.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543300" y="4857750"/>
          <a:ext xmlns:a="http://schemas.openxmlformats.org/drawingml/2006/main" cx="5105400" cy="1219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30795"/>
                <a:gridCol w="2374605"/>
              </a:tblGrid>
              <a:tr h="304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VLM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observed accuracy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Qwen3-VL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53.9%</a:t>
                      </a:r>
                    </a:p>
                  </a:txBody>
                  <a:tcPr marL="57150" marR="57150" marT="38100" marB="3810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Pixtral12B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49.3%</a:t>
                      </a:r>
                    </a:p>
                  </a:txBody>
                  <a:tcPr marL="57150" marR="57150" marT="38100" marB="38100"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Kimi-VL-A3B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51.8%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22775-517C-4144-BB65-6D40EBE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91963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F7C52F-4E81-4378-84F9-072A8B92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A4EFF-7986-4C8C-BF98-07A75F4E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Features combine difficulty, chart structure, and claim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0E3B6-CFA0-4759-BB8D-EA07C6B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10744200" cy="2876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9909"/>
                <a:gridCol w="1288473"/>
                <a:gridCol w="7065818"/>
              </a:tblGrid>
              <a:tr h="57531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feature family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public columns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12 cognitive dimensions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12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Human-coded chart difficulty annotations included as precomputed public features; deployment would require these annotations or an automatic proxy.</a:t>
                      </a:r>
                    </a:p>
                  </a:txBody>
                  <a:tcPr marL="57150" marR="57150" marT="38100" marB="38100"/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Base scalar features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14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Simple size, token, numeric, and image-shape summaries.</a:t>
                      </a:r>
                    </a:p>
                  </a:txBody>
                  <a:tcPr marL="57150" marR="57150" marT="38100" marB="38100"/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Chart TDA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86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Topological summaries of grayscale and edge-map chart structure.</a:t>
                      </a:r>
                    </a:p>
                  </a:txBody>
                  <a:tcPr marL="57150" marR="57150" marT="38100" marB="38100"/>
                </a:tc>
              </a:tr>
              <a:tr h="57531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Claim NLP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81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TF-IDF/SVD semantics, cue counts, alignment, numeric overlap, and token-level TDA.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49B40-7B98-4A05-89E3-9BE8338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38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4F07C-3A47-4386-BF82-6ED382E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11EA5-EE20-4C72-AD03-9BA74E27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625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The model does not see raw claims, captions, prompts, responses, labels, or images. It sees sanitized derived columns that are available to reproduce router training.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4561A-9309-4929-85FD-8C8EC77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1477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0A4BCC-31B0-4CB9-BA11-5E91151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94783-95DE-493E-9EE5-227DF54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Three router families test different assumptions about the feature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6567D-6C1E-4564-9663-D229B2FB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356A-85D4-4892-B86F-9A9E0E85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706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01374-118C-4D90-8202-5D0E01D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Ridge/ElasticNet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E97AB-A8C8-4271-8EBF-05B66D9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02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linear shrinkage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94668-76C4-44F0-9AC9-53604E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stable on small tabular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BAD7B-18A7-4AC0-9905-D0AD555B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0706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B602B-628A-44E7-B9B5-62DF671F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20C5F-4EEF-4ADA-A691-3C4CFB3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6232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boosted decision trees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8B37E-9B08-4EF9-9EE7-F633999E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captures nonlinear feature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705C7-69DF-4C8B-8C14-9FDF9E5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706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5B52A-6C29-4A89-88E1-A48CD96C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</a:defRPr>
            </a:pPr>
            <a:r>
              <a:rPr sz="1875" b="1" i="0">
                <a:solidFill>
                  <a:srgbClr val="111111"/>
                </a:solidFill>
              </a:rPr>
              <a:t>PyTorch MLP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F83C-FCFB-4EE0-966C-FB2BC4A2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one/two hidden layers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9532C-2900-47FB-BE49-094D68B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</a:defRPr>
            </a:pPr>
            <a:r>
              <a:rPr sz="1650" b="0" i="0">
                <a:solidFill>
                  <a:srgbClr val="111111"/>
                </a:solidFill>
              </a:rPr>
              <a:t>tests a small neural tabular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529D7-0B9B-4429-855D-F79CB927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All three predict one observed five-run accuracy per VLM and route to the highest predicted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53335-4C67-496C-8C6D-32B49C71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3020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9F233-28B5-4A3A-9419-F7DE7967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EE1AA-384C-4C82-B2D7-DDDEBDAD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Evaluation: XGBoost + chart TDA leads the point estimates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4CD34-9A61-4D94-B351-F60B74C8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37821"/>
                <a:gridCol w="2316997"/>
                <a:gridCol w="1327446"/>
                <a:gridCol w="1327446"/>
                <a:gridCol w="868874"/>
                <a:gridCol w="989551"/>
                <a:gridCol w="868874"/>
                <a:gridCol w="2654892"/>
              </a:tblGrid>
              <a:tr h="455083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model / baseline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router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top-1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mean regret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</a:rPr>
                        <a:t>selected candidate / models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Regret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XGBoost chart TDA regret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XGBoost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 + TDA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49.2%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0.243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0.200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XGB: 200 trees, depth 3, lr 0.05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Regret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Ridge/ElasticNet base regret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Ridge/ElasticNet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46.7%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0.257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0.200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Ridge alpha 0.1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Top-1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XGBoost chart TDA top-1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XGBoost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 + TDA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49.2%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0.243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0.200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XGB: 200 trees, depth 3, lr 0.05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Top-1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Ridge/ElasticNet base top-1 first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Ridge/ElasticNet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46.7%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0.257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0.200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Ridge alpha 0.1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Baseline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always pixtral12b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deterministic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41.7%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0.302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pixtral12b: 120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Baseline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always qwen3vl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deterministic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40.8%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0.305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qwen3vl: 120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Baseline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always kimi vl a3b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deterministic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40.8%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0.315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kimi_vl_a3b: 120</a:t>
                      </a:r>
                    </a:p>
                  </a:txBody>
                  <a:tcPr marL="57150" marR="57150" marT="38100" marB="38100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Baseline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random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stochastic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38.3%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0.295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-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11111"/>
                          </a:solidFill>
                        </a:rPr>
                        <a:t>kimi_vl_a3b: 38, pixtral12b: 38, qwen3vl: 44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CAA0B-F1B2-4D0C-A6D6-93E4ABB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55555"/>
                </a:solidFill>
              </a:defRPr>
            </a:pPr>
            <a:r>
              <a:rPr sz="1125" b="0" i="0">
                <a:solidFill>
                  <a:srgbClr val="555555"/>
                </a:solidFill>
              </a:rPr>
              <a:t>The table combines the top two regret-first runs, top two top-1-first runs, and all baselines for the best-run split except train-global-best.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633F1-1FA5-4FB9-9E0E-D0DAF3BE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8339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58B2C-0416-41C7-B000-FB1EEB36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A5F61-0BCD-43E8-A0F2-FC51E5D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Bootstrap intervals show the top runs are promising but uncertain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0CDBD-E9CA-4062-9C37-65709BBF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c525bc14b4e2e"/>
          <a:stretch xmlns:a="http://schemas.openxmlformats.org/drawingml/2006/main"/>
        </p:blipFill>
        <p:spPr>
          <a:xfrm xmlns:a="http://schemas.openxmlformats.org/drawingml/2006/main">
            <a:off x="1397125" y="1676400"/>
            <a:ext cx="3568451" cy="3429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1ccb9fe874879"/>
          <a:stretch xmlns:a="http://schemas.openxmlformats.org/drawingml/2006/main"/>
        </p:blipFill>
        <p:spPr>
          <a:xfrm xmlns:a="http://schemas.openxmlformats.org/drawingml/2006/main">
            <a:off x="7217308" y="1676400"/>
            <a:ext cx="3586684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58DD8-6B11-4B4E-8AFF-594F10A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Only the five best point-estimate runs under the mean-regret-first policy are shown, sorted by lower held-out mean regret. Top panel shows tie-aware top-1; bottom panel shows mean regret.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70881-AAA6-4268-B4A5-FE25FE90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006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55555"/>
                </a:solidFill>
              </a:defRPr>
            </a:pPr>
            <a:r>
              <a:rPr sz="900" b="0" i="0">
                <a:solidFill>
                  <a:srgbClr val="555555"/>
                </a:solidFill>
              </a:rPr>
              <a:t>Only the five best point-estimate runs under the top-1-first policy are shown, sorted by higher held-out top-1 hit rate. Intervals are grouped-bootstrap intervals over held-out paper groups.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D73CC-6737-4437-A3E9-76BF71C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Intervals resample held-out test paper groups only, after hyperparameters are fixed.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073CA-8586-4AC1-87C7-5506211C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1526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D150A6-67F9-4279-94FE-8F710F02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BA293-A914-4772-B59E-A105BA89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Overfitting diagnostics compare train and validation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1A11B-6CA7-4131-8D0C-8605B45D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05F19-D9E7-4E52-B70B-F8AF1E4B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Ridge/ElasticNet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892d157a847ea"/>
          <a:stretch xmlns:a="http://schemas.openxmlformats.org/drawingml/2006/main"/>
        </p:blipFill>
        <p:spPr>
          <a:xfrm xmlns:a="http://schemas.openxmlformats.org/drawingml/2006/main">
            <a:off x="400050" y="2122487"/>
            <a:ext cx="3543300" cy="23653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1BC89-4566-4BA6-B964-6B66F857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38700"/>
            <a:ext cx="346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55555"/>
                </a:solidFill>
              </a:defRPr>
            </a:pPr>
            <a:r>
              <a:rPr sz="788" b="0" i="0">
                <a:solidFill>
                  <a:srgbClr val="555555"/>
                </a:solidFill>
              </a:rPr>
              <a:t>Curves show train versus grouped-validation top-1 and mean regret across regularization candidates for the best regret-first Ridge/ElasticNet run. The solid red horizontal line marks the selected candidate. Dotted horizontal separators mark Ridge versus ElasticNet candidate zones when both appear.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0B840-97EB-4316-B5B1-A88CD40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XGBoost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50be3224248fa"/>
          <a:stretch xmlns:a="http://schemas.openxmlformats.org/drawingml/2006/main"/>
        </p:blipFill>
        <p:spPr>
          <a:xfrm xmlns:a="http://schemas.openxmlformats.org/drawingml/2006/main">
            <a:off x="4267200" y="2122487"/>
            <a:ext cx="3543300" cy="236537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370A4-09BD-4C61-9867-D803B7D7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38700"/>
            <a:ext cx="346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55555"/>
                </a:solidFill>
              </a:defRPr>
            </a:pPr>
            <a:r>
              <a:rPr sz="788" b="0" i="0">
                <a:solidFill>
                  <a:srgbClr val="555555"/>
                </a:solidFill>
              </a:rPr>
              <a:t>Curves show train versus grouped-validation metrics across the XGBoost grid. Dotted horizontal separators split tree-count/depth zones such as 50 trees depth 1, 50 trees depth 2, and so on; the right-side labels mark those zones. The solid red line marks the selected candidate.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F1430-9F44-4AA5-AE70-2DBD1D07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002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PyTorch MLP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a1e31ddbc4c93"/>
          <a:stretch xmlns:a="http://schemas.openxmlformats.org/drawingml/2006/main"/>
        </p:blipFill>
        <p:spPr>
          <a:xfrm xmlns:a="http://schemas.openxmlformats.org/drawingml/2006/main">
            <a:off x="8134350" y="2121850"/>
            <a:ext cx="3543300" cy="2366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FDC86-E162-4117-957A-8DD707C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3467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55555"/>
                </a:solidFill>
              </a:defRPr>
            </a:pPr>
            <a:r>
              <a:rPr sz="788" b="0" i="0">
                <a:solidFill>
                  <a:srgbClr val="555555"/>
                </a:solidFill>
              </a:rPr>
              <a:t>Curves show train versus grouped-validation metrics across the PyTorch MLP grid. Dotted horizontal separators split one-hidden-layer and two-hidden-layer candidates; the solid red line marks the selected candidate.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621C7-6585-42B4-9F9F-58457DA8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Reading: large train-validation gaps are warning signs. The selected XGBoost and PyTorch MLP candidates fit the training groups much better than validation groups.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917CB-7C92-4AD8-9C57-1E3E5E8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7160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876D0-C5B5-48D7-810E-C2667DA2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7EC30-57C1-4A86-A5A1-7356ABB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Selected-candidate overfitting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A506-6475-474B-82ED-D96D9706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266700" y="1676400"/>
          <a:ext xmlns:a="http://schemas.openxmlformats.org/drawingml/2006/main" cx="116586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51167"/>
                <a:gridCol w="1763008"/>
                <a:gridCol w="2104235"/>
                <a:gridCol w="818946"/>
                <a:gridCol w="978185"/>
                <a:gridCol w="818946"/>
                <a:gridCol w="818946"/>
                <a:gridCol w="978185"/>
                <a:gridCol w="818946"/>
                <a:gridCol w="1308038"/>
              </a:tblGrid>
              <a:tr h="785813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router family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selected run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selected candidate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train top-1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validation top-1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top-1 gap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train regret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validation regret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regret gap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 marL="57150" marR="57150" marT="38100" marB="38100">
                    <a:solidFill>
                      <a:srgbClr val="11111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Ridge/ElasticNet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Ridge/ElasticNet base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Ridge alpha 0.1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54.0%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54.5%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-0.4%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0.212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0.218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0.006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limited overfitting signal</a:t>
                      </a:r>
                    </a:p>
                  </a:txBody>
                  <a:tcPr marL="57150" marR="57150" marT="38100" marB="3810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XGBoost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XGBoost chart TDA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XGB: 200 trees, depth 3, lr 0.05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90.3%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51.2%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39.1%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0.023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0.231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0.208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strong overfitting signal</a:t>
                      </a:r>
                    </a:p>
                  </a:txBody>
                  <a:tcPr marL="57150" marR="57150" marT="38100" marB="3810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PyTorch MLP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PyTorch MLP chart TDA + claim NLP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MLP 32x16, tanh, alpha 0.01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100.0%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48.0%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52.0%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0.000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0.263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0.263</a:t>
                      </a:r>
                    </a:p>
                  </a:txBody>
                  <a:tcPr marL="57150" marR="57150" marT="38100" marB="38100"/>
                </a:tc>
                <a:tc>
                  <a:txBody>
                    <a:bodyPr/>
                    <a:lstStyle/>
                    <a:p>
                      <a:r>
                        <a:rPr sz="713">
                          <a:solidFill>
                            <a:srgbClr val="111111"/>
                          </a:solidFill>
                        </a:rPr>
                        <a:t>strong overfitting signal</a:t>
                      </a:r>
                    </a:p>
                  </a:txBody>
                  <a:tcPr marL="57150" marR="57150" marT="38100" marB="381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F118E-EF25-4BCF-85EB-1545AA63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70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55E96-A690-4A5B-AF29-048B5E8D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EC7BE-61A0-4D43-B676-279A643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959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Ridge/ElasticNet shows limited overfitting signal. XGBoost and the PyTorch MLP show strong training gains that do not fully carry to grouped validation, so bootstrap/test evidence is essential.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FB6E1-58EE-49AE-A4DD-AD734AD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1254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C2D8C7-722B-4576-B175-FDAB5BE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SCIVER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2F934-F01C-4EA9-A01D-B3130733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</a:defRPr>
            </a:pPr>
            <a:r>
              <a:rPr sz="2625" b="1" i="0">
                <a:solidFill>
                  <a:srgbClr val="111111"/>
                </a:solidFill>
              </a:rPr>
              <a:t>Acknowledgments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B12FC-F8C5-4369-BBA0-0A578705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BE5BF-DD10-4CE5-BCEB-4B17D3A5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Acknowledgment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D859F-21A6-43E8-BAE6-13D6A41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The 12 cognitive-difficulty dimensions used by this router study were engineered by the project AI Faithfulness in Scientific Reasoning.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3BA5E-DC95-48DF-A7C2-1F860751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F9F"/>
                </a:solidFill>
              </a:defRPr>
            </a:pPr>
            <a:r>
              <a:rPr sz="1275" b="0" i="0">
                <a:solidFill>
                  <a:srgbClr val="315F9F"/>
                </a:solidFill>
              </a:rPr>
              <a:t>Project repository: https://github.com/Erdos-Projects/summer26-ai-faithfulness-in-scientific-reasoning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4AEAC-0211-4269-AB3F-14C3191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86434-0FEB-4648-ACC6-7DAC9BD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SciVer paper and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0E87C-BE57-4FDF-93DA-C423B21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Wang et al., SciVer: Evaluating Foundation Models for Multimodal Scientific Claim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3EC4F-66F3-4A0E-9D4B-6A04E43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F9F"/>
                </a:solidFill>
              </a:defRPr>
            </a:pPr>
            <a:r>
              <a:rPr sz="1275" b="0" i="0">
                <a:solidFill>
                  <a:srgbClr val="315F9F"/>
                </a:solidFill>
              </a:rPr>
              <a:t>Paper: https://arxiv.org/abs/2506.15569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CD9A9-85AC-4ECD-B3C1-DFA4D913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F9F"/>
                </a:solidFill>
              </a:defRPr>
            </a:pPr>
            <a:r>
              <a:rPr sz="1275" b="0" i="0">
                <a:solidFill>
                  <a:srgbClr val="315F9F"/>
                </a:solidFill>
              </a:rPr>
              <a:t>Dataset: https://huggingface.co/datasets/chengyewang/SciVer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6F76B-765B-449C-9380-B2452ED6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55555"/>
                </a:solidFill>
              </a:defRPr>
            </a:pPr>
            <a:r>
              <a:rPr sz="1275" b="0" i="0">
                <a:solidFill>
                  <a:srgbClr val="555555"/>
                </a:solidFill>
              </a:rPr>
              <a:t>These sources provide the benchmark task, released dataset, and cognitive-difficulty annotation framework on which the routing experiments build.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31322-A292-4F6B-A0A0-6F7B68A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555"/>
                </a:solidFill>
              </a:defRPr>
            </a:pPr>
            <a:r>
              <a:rPr sz="975" b="0" i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7573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2026-07-12T21:10:43.5850000Z</dcterms:created>
  <dcterms:modified xsi:type="dcterms:W3CDTF">2026-07-12T21:10:43.5850000Z</dcterms:modified>
</coreProperties>
</file>