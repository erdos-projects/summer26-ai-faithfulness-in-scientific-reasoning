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5"/>
    <p:sldMasterId id="2147483685" r:id="rId6"/>
    <p:sldMasterId id="2147483686" r:id="rId7"/>
    <p:sldMasterId id="2147483687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y="5143500" cx="9144000"/>
  <p:notesSz cx="6858000" cy="9144000"/>
  <p:embeddedFontLst>
    <p:embeddedFont>
      <p:font typeface="Play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48D2EB-F2AD-427D-9B3C-27DB9DF29B75}">
  <a:tblStyle styleId="{DC48D2EB-F2AD-427D-9B3C-27DB9DF29B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font" Target="fonts/Play-regular.fntdata"/><Relationship Id="rId25" Type="http://schemas.openxmlformats.org/officeDocument/2006/relationships/slide" Target="slides/slide16.xml"/><Relationship Id="rId27" Type="http://schemas.openxmlformats.org/officeDocument/2006/relationships/font" Target="fonts/Play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4c57abf9a_5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f4c57abf9a_5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4ce5bcd9e_1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4ce5bcd9e_1_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don’t know when they fail or which LLM is good for which kind of 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Benchmarks are coming out frequqently and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benchmark quality? Overfitting on benchmarks? What are the benchmarks measuring?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of LLM capabilities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Science reasoning – how does difficulty relate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Item difficulty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Claim-evidence pair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demand dimension</a:t>
            </a:r>
            <a:endParaRPr/>
          </a:p>
        </p:txBody>
      </p:sp>
      <p:sp>
        <p:nvSpPr>
          <p:cNvPr id="214" name="Google Shape;214;g3f4ce5bcd9e_1_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4c57abf9a_2_24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f4c57abf9a_2_24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4c57abf9a_2_24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4ce5bcd9e_1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f4ce5bcd9e_1_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baseline="30000" lang="en"/>
              <a:t>rd</a:t>
            </a:r>
            <a:r>
              <a:rPr lang="en"/>
              <a:t> was used for prediction studies</a:t>
            </a:r>
            <a:endParaRPr/>
          </a:p>
        </p:txBody>
      </p:sp>
      <p:sp>
        <p:nvSpPr>
          <p:cNvPr id="336" name="Google Shape;336;g3f4ce5bcd9e_1_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4ce5bcd9e_1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f4ce5bcd9e_1_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Nature paper – describe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Makes rubric for text-based LLMs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borrow to tweak the text based rubric to apply to visual questions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using this rubric alone is it built on text, visual is different, need to caption the visual demands as well. That’s where frontier VLMS come in</a:t>
            </a:r>
            <a:endParaRPr/>
          </a:p>
        </p:txBody>
      </p:sp>
      <p:sp>
        <p:nvSpPr>
          <p:cNvPr id="353" name="Google Shape;353;g3f4ce5bcd9e_1_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4deb4f4e7_4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f4deb4f4e7_4_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3</a:t>
            </a:r>
            <a:r>
              <a:rPr baseline="30000" lang="en"/>
              <a:t>rd</a:t>
            </a:r>
            <a:r>
              <a:rPr lang="en"/>
              <a:t> was used for prediction studies</a:t>
            </a:r>
            <a:endParaRPr/>
          </a:p>
        </p:txBody>
      </p:sp>
      <p:sp>
        <p:nvSpPr>
          <p:cNvPr id="375" name="Google Shape;375;g3f4deb4f4e7_4_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4deb4f4e7_4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f4deb4f4e7_4_2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many claims could be checked by scanning everything, but settle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" sz="12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cheaply once the right mark is found.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ability to find the relevant data point(s) on a chart to address the claim</a:t>
            </a:r>
            <a:endParaRPr/>
          </a:p>
        </p:txBody>
      </p:sp>
      <p:sp>
        <p:nvSpPr>
          <p:cNvPr id="517" name="Google Shape;517;g3f4deb4f4e7_4_2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4deb4f4e7_4_2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3f4deb4f4e7_4_2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Emergent dim — VL: Visual Localization &amp; Grounding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VL measures how far the figure must be searched to find the referent. High: locate which of two heatmaps has less high-intensity area, then read THAT panel's x-axis label. Low: the answer (number of axes) is a global property — nothing to localize.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Demand scores (HIGH | LOW):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VL   Visual Localization &amp; Grounding    4 | 0 &lt;-- focal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AS   Attention &amp; Scan                   3 |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MCr  Identifying Relevant Info          3 |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MCu  Calibrating Knowns/Unknowns        1 |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MA   Multi-Element Visual Aggregation   1 | 2 (emergent)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VO   Volume                             1 |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AT   Atypicality                        3 |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GS   Gestalt &amp; Shape Judgment           2 | 0 (emergent)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QLl  Logical Reasoning                  3 |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KNf  Formal Sciences                    1 |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QLq  Quantitative Reasoning             2 |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CL   Conceptualisation/Abstraction      1 |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Items: HIGH=charxiv_val_1298  LOW=charxiv_val_1081. Figures from CharXiv val; scores from pass-1 verdict-blind DeLeAn annotation (annotations_charxiv.db).</a:t>
            </a:r>
            <a:endParaRPr/>
          </a:p>
        </p:txBody>
      </p:sp>
      <p:sp>
        <p:nvSpPr>
          <p:cNvPr id="536" name="Google Shape;536;g3f4deb4f4e7_4_2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4deb4f4e7_4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f4deb4f4e7_4_2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1. Gather the data. Take every training item. Each has a demand score for that dimension (0–5) and a 0/1 for whether this model answered it correctly. So you have pairs like (demand=3, correct=1), (demand=5, correct=0), ….2. Fit a logistic curve of correctness against demand (fitted_curve, LogisticRegression(C=1.0, lbfgs)):$$P(\text{correct}) = \frac{1}{1+e^{-(a + b\cdot\text{demand})}}$$This is a smooth S-curve that almost always slopes down — high probability of correct at low demand, falling as demand rises. (Edge case: if the model got all items right or all wrong on that dim, the curve is just a flat line at that mean.)3. Integrate the curve to get ability. Evaluate the fitted curve on a fine grid of 51 points from 0 to 5 (GRID = linspace(0,5,51)) and take the area underneath via the trapezoid rule (TRAPZ(p, GRID)):$$\text{ability} = \int_0^5 P(\text{correct}\mid \text{demand});d(\text{demand})$$  - Curve stays high across the whole range (accurate even on hard items) → big area → high ability.  - Curve drops off fast (only gets easy ones) → small area → low ability.  - Because the demand axis runs 0→5, the ability number is on a 0–5 scale (a model correct everywhere would score ~5).That gives one ability value per dimension → 12 values → the 12 spokes.The blue radar (the "Main" shape)Each of the 39 models gets its own 12-value radar by the procedure above. The headline radar is the per-dimension mean across the 39 models:mean_auc[d] = mean over models of ability[model][d]Note the order: ability is computed per model first, then averaged — not by pooling all 39 models' answers into one logistic fit. That keeps every model an equal voice instead of letting high-volume models dominate.One caveat worth knowingThis "area under the curve" ability blends two things: raw skill (how high the curve sits overall) and difficulty tolerance (how slowly it falls). A generally-accurate model scores high even if hard items still trip it. The code also computes a floor/ceiling-normalized version (norm_ability: rescale the curve to span 0–1 before integrating) that isolates "how fast does it fall" from "how good overall" — that's the second value in each tuple and lives in ability_long.csv if you ever want to separate the two.</a:t>
            </a:r>
            <a:endParaRPr/>
          </a:p>
        </p:txBody>
      </p:sp>
      <p:sp>
        <p:nvSpPr>
          <p:cNvPr id="554" name="Google Shape;554;g3f4deb4f4e7_4_2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4caf97ea8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f4caf97ea8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f4caf97ea8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4deb4f4e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f4deb4f4e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f4deb4f4e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f4caf97ea8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f4caf97ea8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3f4caf97ea8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4caf97ea8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f4caf97ea8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f4caf97ea8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4caf97ea8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3f4caf97ea8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f4caf97ea8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4caf97ea8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g3f4caf97ea8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f4caf97ea8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4deb4f4e7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g3f4deb4f4e7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f4deb4f4e7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1" name="Google Shape;141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53" name="Google Shape;153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33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34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6" name="Google Shape;166;p34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7" name="Google Shape;167;p34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8" name="Google Shape;168;p34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9" name="Google Shape;169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80" name="Google Shape;180;p36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1" name="Google Shape;181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7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37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3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8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4" name="Google Shape;194;p3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3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9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3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1" name="Google Shape;201;p3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3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image" Target="../media/image2.jp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/>
          <p:nvPr/>
        </p:nvSpPr>
        <p:spPr>
          <a:xfrm>
            <a:off x="-11312" y="0"/>
            <a:ext cx="9143700" cy="5143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1"/>
          <p:cNvSpPr txBox="1"/>
          <p:nvPr/>
        </p:nvSpPr>
        <p:spPr>
          <a:xfrm>
            <a:off x="617220" y="1508760"/>
            <a:ext cx="7886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Cognitive-Demand Rubrics as Predictors of</a:t>
            </a:r>
            <a:b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Vision-Language Reasoning Failure</a:t>
            </a:r>
            <a:endParaRPr sz="1100"/>
          </a:p>
        </p:txBody>
      </p:sp>
      <p:sp>
        <p:nvSpPr>
          <p:cNvPr id="210" name="Google Shape;210;p41"/>
          <p:cNvSpPr txBox="1"/>
          <p:nvPr/>
        </p:nvSpPr>
        <p:spPr>
          <a:xfrm>
            <a:off x="52600" y="4820902"/>
            <a:ext cx="7886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EC1DD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0" lang="en" sz="1100">
                <a:solidFill>
                  <a:srgbClr val="AEC1DD"/>
                </a:solidFill>
                <a:latin typeface="Calibri"/>
                <a:ea typeface="Calibri"/>
                <a:cs typeface="Calibri"/>
                <a:sym typeface="Calibri"/>
              </a:rPr>
              <a:t>Erdős Institute Summer 2026 · AI Faithfulness in Scientific Reasoning · </a:t>
            </a:r>
            <a:r>
              <a:rPr lang="en" sz="1100">
                <a:solidFill>
                  <a:srgbClr val="AEC1DD"/>
                </a:solidFill>
                <a:latin typeface="Calibri"/>
                <a:ea typeface="Calibri"/>
                <a:cs typeface="Calibri"/>
                <a:sym typeface="Calibri"/>
              </a:rPr>
              <a:t>Awndre Gamache and Hayden Everett</a:t>
            </a:r>
            <a:r>
              <a:rPr b="0" i="0" lang="en" sz="1100">
                <a:solidFill>
                  <a:srgbClr val="AEC1D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>
              <a:solidFill>
                <a:srgbClr val="AEC1D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2"/>
          <p:cNvSpPr/>
          <p:nvPr/>
        </p:nvSpPr>
        <p:spPr>
          <a:xfrm>
            <a:off x="0" y="0"/>
            <a:ext cx="9143771" cy="7543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2"/>
          <p:cNvSpPr txBox="1"/>
          <p:nvPr/>
        </p:nvSpPr>
        <p:spPr>
          <a:xfrm>
            <a:off x="1566949" y="212571"/>
            <a:ext cx="5848004" cy="39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C</a:t>
            </a:r>
            <a:r>
              <a:rPr b="1" i="0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we predict WHEN a model fails?</a:t>
            </a:r>
            <a:endParaRPr sz="1100"/>
          </a:p>
        </p:txBody>
      </p:sp>
      <p:sp>
        <p:nvSpPr>
          <p:cNvPr id="218" name="Google Shape;218;p42"/>
          <p:cNvSpPr txBox="1"/>
          <p:nvPr/>
        </p:nvSpPr>
        <p:spPr>
          <a:xfrm>
            <a:off x="992856" y="922067"/>
            <a:ext cx="1645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endParaRPr sz="1100"/>
          </a:p>
        </p:txBody>
      </p:sp>
      <p:sp>
        <p:nvSpPr>
          <p:cNvPr id="219" name="Google Shape;219;p42"/>
          <p:cNvSpPr txBox="1"/>
          <p:nvPr/>
        </p:nvSpPr>
        <p:spPr>
          <a:xfrm>
            <a:off x="3600588" y="922067"/>
            <a:ext cx="1783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Vision LLM</a:t>
            </a:r>
            <a:endParaRPr sz="1100"/>
          </a:p>
        </p:txBody>
      </p:sp>
      <p:sp>
        <p:nvSpPr>
          <p:cNvPr id="220" name="Google Shape;220;p42"/>
          <p:cNvSpPr txBox="1"/>
          <p:nvPr/>
        </p:nvSpPr>
        <p:spPr>
          <a:xfrm>
            <a:off x="6840993" y="922067"/>
            <a:ext cx="1234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2937"/>
                </a:solidFill>
              </a:rPr>
              <a:t>Accuracy</a:t>
            </a:r>
            <a:endParaRPr sz="1100"/>
          </a:p>
        </p:txBody>
      </p:sp>
      <p:sp>
        <p:nvSpPr>
          <p:cNvPr id="221" name="Google Shape;221;p42"/>
          <p:cNvSpPr/>
          <p:nvPr/>
        </p:nvSpPr>
        <p:spPr>
          <a:xfrm>
            <a:off x="377325" y="1367850"/>
            <a:ext cx="2434500" cy="285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8D3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2"/>
          <p:cNvSpPr/>
          <p:nvPr/>
        </p:nvSpPr>
        <p:spPr>
          <a:xfrm>
            <a:off x="562494" y="1559861"/>
            <a:ext cx="946500" cy="946500"/>
          </a:xfrm>
          <a:prstGeom prst="roundRect">
            <a:avLst>
              <a:gd fmla="val 16667" name="adj"/>
            </a:avLst>
          </a:prstGeom>
          <a:solidFill>
            <a:srgbClr val="FAFCFF"/>
          </a:solidFill>
          <a:ln cap="flat" cmpd="sng" w="12700">
            <a:solidFill>
              <a:srgbClr val="E4EA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2"/>
          <p:cNvSpPr/>
          <p:nvPr/>
        </p:nvSpPr>
        <p:spPr>
          <a:xfrm>
            <a:off x="1728354" y="1559861"/>
            <a:ext cx="946500" cy="946500"/>
          </a:xfrm>
          <a:prstGeom prst="roundRect">
            <a:avLst>
              <a:gd fmla="val 16667" name="adj"/>
            </a:avLst>
          </a:prstGeom>
          <a:solidFill>
            <a:srgbClr val="FAFCFF"/>
          </a:solidFill>
          <a:ln cap="flat" cmpd="sng" w="12700">
            <a:solidFill>
              <a:srgbClr val="E4EA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2"/>
          <p:cNvSpPr/>
          <p:nvPr/>
        </p:nvSpPr>
        <p:spPr>
          <a:xfrm>
            <a:off x="562494" y="2794302"/>
            <a:ext cx="946500" cy="946500"/>
          </a:xfrm>
          <a:prstGeom prst="roundRect">
            <a:avLst>
              <a:gd fmla="val 16667" name="adj"/>
            </a:avLst>
          </a:prstGeom>
          <a:solidFill>
            <a:srgbClr val="FAFCFF"/>
          </a:solidFill>
          <a:ln cap="flat" cmpd="sng" w="12700">
            <a:solidFill>
              <a:srgbClr val="E4EA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2"/>
          <p:cNvSpPr/>
          <p:nvPr/>
        </p:nvSpPr>
        <p:spPr>
          <a:xfrm>
            <a:off x="1728354" y="2794302"/>
            <a:ext cx="946500" cy="946500"/>
          </a:xfrm>
          <a:prstGeom prst="roundRect">
            <a:avLst>
              <a:gd fmla="val 16667" name="adj"/>
            </a:avLst>
          </a:prstGeom>
          <a:solidFill>
            <a:srgbClr val="FAFCFF"/>
          </a:solidFill>
          <a:ln cap="flat" cmpd="sng" w="12700">
            <a:solidFill>
              <a:srgbClr val="E4EA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42"/>
          <p:cNvCxnSpPr/>
          <p:nvPr/>
        </p:nvCxnSpPr>
        <p:spPr>
          <a:xfrm rot="10800000">
            <a:off x="651648" y="1676406"/>
            <a:ext cx="0" cy="692700"/>
          </a:xfrm>
          <a:prstGeom prst="straightConnector1">
            <a:avLst/>
          </a:prstGeom>
          <a:noFill/>
          <a:ln cap="flat" cmpd="sng" w="19050">
            <a:solidFill>
              <a:srgbClr val="BEC6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27" name="Google Shape;227;p42"/>
          <p:cNvCxnSpPr/>
          <p:nvPr/>
        </p:nvCxnSpPr>
        <p:spPr>
          <a:xfrm>
            <a:off x="651648" y="2369106"/>
            <a:ext cx="747600" cy="0"/>
          </a:xfrm>
          <a:prstGeom prst="straightConnector1">
            <a:avLst/>
          </a:prstGeom>
          <a:noFill/>
          <a:ln cap="flat" cmpd="sng" w="19050">
            <a:solidFill>
              <a:srgbClr val="BEC6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28" name="Google Shape;228;p42"/>
          <p:cNvCxnSpPr/>
          <p:nvPr/>
        </p:nvCxnSpPr>
        <p:spPr>
          <a:xfrm flipH="1" rot="10800000">
            <a:off x="720228" y="2067498"/>
            <a:ext cx="123300" cy="123300"/>
          </a:xfrm>
          <a:prstGeom prst="straightConnector1">
            <a:avLst/>
          </a:prstGeom>
          <a:noFill/>
          <a:ln cap="flat" cmpd="sng" w="29200">
            <a:solidFill>
              <a:srgbClr val="588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29" name="Google Shape;229;p42"/>
          <p:cNvCxnSpPr/>
          <p:nvPr/>
        </p:nvCxnSpPr>
        <p:spPr>
          <a:xfrm>
            <a:off x="843672" y="2067354"/>
            <a:ext cx="130200" cy="41100"/>
          </a:xfrm>
          <a:prstGeom prst="straightConnector1">
            <a:avLst/>
          </a:prstGeom>
          <a:noFill/>
          <a:ln cap="flat" cmpd="sng" w="29200">
            <a:solidFill>
              <a:srgbClr val="588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30" name="Google Shape;230;p42"/>
          <p:cNvCxnSpPr/>
          <p:nvPr/>
        </p:nvCxnSpPr>
        <p:spPr>
          <a:xfrm flipH="1" rot="10800000">
            <a:off x="973974" y="1902702"/>
            <a:ext cx="123300" cy="205800"/>
          </a:xfrm>
          <a:prstGeom prst="straightConnector1">
            <a:avLst/>
          </a:prstGeom>
          <a:noFill/>
          <a:ln cap="flat" cmpd="sng" w="29200">
            <a:solidFill>
              <a:srgbClr val="588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31" name="Google Shape;231;p42"/>
          <p:cNvCxnSpPr/>
          <p:nvPr/>
        </p:nvCxnSpPr>
        <p:spPr>
          <a:xfrm flipH="1" rot="10800000">
            <a:off x="1097418" y="1792962"/>
            <a:ext cx="137100" cy="109800"/>
          </a:xfrm>
          <a:prstGeom prst="straightConnector1">
            <a:avLst/>
          </a:prstGeom>
          <a:noFill/>
          <a:ln cap="flat" cmpd="sng" w="29200">
            <a:solidFill>
              <a:srgbClr val="588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32" name="Google Shape;232;p42"/>
          <p:cNvCxnSpPr/>
          <p:nvPr/>
        </p:nvCxnSpPr>
        <p:spPr>
          <a:xfrm flipH="1" rot="10800000">
            <a:off x="1234578" y="1738134"/>
            <a:ext cx="102900" cy="54900"/>
          </a:xfrm>
          <a:prstGeom prst="straightConnector1">
            <a:avLst/>
          </a:prstGeom>
          <a:noFill/>
          <a:ln cap="flat" cmpd="sng" w="29200">
            <a:solidFill>
              <a:srgbClr val="588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33" name="Google Shape;233;p42"/>
          <p:cNvSpPr/>
          <p:nvPr/>
        </p:nvSpPr>
        <p:spPr>
          <a:xfrm>
            <a:off x="699654" y="2170224"/>
            <a:ext cx="41100" cy="41100"/>
          </a:xfrm>
          <a:prstGeom prst="ellipse">
            <a:avLst/>
          </a:prstGeom>
          <a:solidFill>
            <a:srgbClr val="5881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2"/>
          <p:cNvSpPr/>
          <p:nvPr/>
        </p:nvSpPr>
        <p:spPr>
          <a:xfrm>
            <a:off x="823098" y="2046780"/>
            <a:ext cx="41100" cy="41100"/>
          </a:xfrm>
          <a:prstGeom prst="ellipse">
            <a:avLst/>
          </a:prstGeom>
          <a:solidFill>
            <a:srgbClr val="5881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2"/>
          <p:cNvSpPr/>
          <p:nvPr/>
        </p:nvSpPr>
        <p:spPr>
          <a:xfrm>
            <a:off x="953400" y="2087928"/>
            <a:ext cx="41100" cy="41100"/>
          </a:xfrm>
          <a:prstGeom prst="ellipse">
            <a:avLst/>
          </a:prstGeom>
          <a:solidFill>
            <a:srgbClr val="5881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2"/>
          <p:cNvSpPr/>
          <p:nvPr/>
        </p:nvSpPr>
        <p:spPr>
          <a:xfrm>
            <a:off x="1076844" y="1882188"/>
            <a:ext cx="41100" cy="41100"/>
          </a:xfrm>
          <a:prstGeom prst="ellipse">
            <a:avLst/>
          </a:prstGeom>
          <a:solidFill>
            <a:srgbClr val="5881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2"/>
          <p:cNvSpPr/>
          <p:nvPr/>
        </p:nvSpPr>
        <p:spPr>
          <a:xfrm>
            <a:off x="1214004" y="1772460"/>
            <a:ext cx="41100" cy="41100"/>
          </a:xfrm>
          <a:prstGeom prst="ellipse">
            <a:avLst/>
          </a:prstGeom>
          <a:solidFill>
            <a:srgbClr val="5881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2"/>
          <p:cNvSpPr/>
          <p:nvPr/>
        </p:nvSpPr>
        <p:spPr>
          <a:xfrm>
            <a:off x="1316874" y="1717596"/>
            <a:ext cx="41100" cy="41100"/>
          </a:xfrm>
          <a:prstGeom prst="ellipse">
            <a:avLst/>
          </a:prstGeom>
          <a:solidFill>
            <a:srgbClr val="5881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42"/>
          <p:cNvCxnSpPr/>
          <p:nvPr/>
        </p:nvCxnSpPr>
        <p:spPr>
          <a:xfrm rot="10800000">
            <a:off x="1817508" y="1676406"/>
            <a:ext cx="0" cy="692700"/>
          </a:xfrm>
          <a:prstGeom prst="straightConnector1">
            <a:avLst/>
          </a:prstGeom>
          <a:noFill/>
          <a:ln cap="flat" cmpd="sng" w="19050">
            <a:solidFill>
              <a:srgbClr val="BEC6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40" name="Google Shape;240;p42"/>
          <p:cNvCxnSpPr/>
          <p:nvPr/>
        </p:nvCxnSpPr>
        <p:spPr>
          <a:xfrm>
            <a:off x="1817508" y="2369106"/>
            <a:ext cx="747600" cy="0"/>
          </a:xfrm>
          <a:prstGeom prst="straightConnector1">
            <a:avLst/>
          </a:prstGeom>
          <a:noFill/>
          <a:ln cap="flat" cmpd="sng" w="19050">
            <a:solidFill>
              <a:srgbClr val="BEC6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41" name="Google Shape;241;p42"/>
          <p:cNvSpPr/>
          <p:nvPr/>
        </p:nvSpPr>
        <p:spPr>
          <a:xfrm>
            <a:off x="1906662" y="2142792"/>
            <a:ext cx="82200" cy="226200"/>
          </a:xfrm>
          <a:prstGeom prst="rect">
            <a:avLst/>
          </a:prstGeom>
          <a:solidFill>
            <a:srgbClr val="35BEB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2"/>
          <p:cNvSpPr/>
          <p:nvPr/>
        </p:nvSpPr>
        <p:spPr>
          <a:xfrm>
            <a:off x="2057538" y="2019348"/>
            <a:ext cx="82200" cy="349800"/>
          </a:xfrm>
          <a:prstGeom prst="rect">
            <a:avLst/>
          </a:prstGeom>
          <a:solidFill>
            <a:srgbClr val="61C97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2"/>
          <p:cNvSpPr/>
          <p:nvPr/>
        </p:nvSpPr>
        <p:spPr>
          <a:xfrm>
            <a:off x="2208414" y="1868472"/>
            <a:ext cx="82200" cy="500700"/>
          </a:xfrm>
          <a:prstGeom prst="rect">
            <a:avLst/>
          </a:prstGeom>
          <a:solidFill>
            <a:srgbClr val="F8B4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2"/>
          <p:cNvSpPr/>
          <p:nvPr/>
        </p:nvSpPr>
        <p:spPr>
          <a:xfrm>
            <a:off x="2359290" y="1751886"/>
            <a:ext cx="82200" cy="617100"/>
          </a:xfrm>
          <a:prstGeom prst="rect">
            <a:avLst/>
          </a:prstGeom>
          <a:solidFill>
            <a:srgbClr val="AC8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42"/>
          <p:cNvCxnSpPr/>
          <p:nvPr/>
        </p:nvCxnSpPr>
        <p:spPr>
          <a:xfrm rot="10800000">
            <a:off x="651648" y="2910846"/>
            <a:ext cx="0" cy="692700"/>
          </a:xfrm>
          <a:prstGeom prst="straightConnector1">
            <a:avLst/>
          </a:prstGeom>
          <a:noFill/>
          <a:ln cap="flat" cmpd="sng" w="19050">
            <a:solidFill>
              <a:srgbClr val="BEC6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46" name="Google Shape;246;p42"/>
          <p:cNvCxnSpPr/>
          <p:nvPr/>
        </p:nvCxnSpPr>
        <p:spPr>
          <a:xfrm>
            <a:off x="651648" y="3603546"/>
            <a:ext cx="747600" cy="0"/>
          </a:xfrm>
          <a:prstGeom prst="straightConnector1">
            <a:avLst/>
          </a:prstGeom>
          <a:noFill/>
          <a:ln cap="flat" cmpd="sng" w="19050">
            <a:solidFill>
              <a:srgbClr val="BEC6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47" name="Google Shape;247;p42"/>
          <p:cNvCxnSpPr/>
          <p:nvPr/>
        </p:nvCxnSpPr>
        <p:spPr>
          <a:xfrm flipH="1" rot="10800000">
            <a:off x="740801" y="3013902"/>
            <a:ext cx="617100" cy="466200"/>
          </a:xfrm>
          <a:prstGeom prst="straightConnector1">
            <a:avLst/>
          </a:prstGeom>
          <a:noFill/>
          <a:ln cap="flat" cmpd="sng" w="25400">
            <a:solidFill>
              <a:srgbClr val="F572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48" name="Google Shape;248;p42"/>
          <p:cNvSpPr/>
          <p:nvPr/>
        </p:nvSpPr>
        <p:spPr>
          <a:xfrm>
            <a:off x="735315" y="3440325"/>
            <a:ext cx="38400" cy="38400"/>
          </a:xfrm>
          <a:prstGeom prst="ellipse">
            <a:avLst/>
          </a:prstGeom>
          <a:solidFill>
            <a:srgbClr val="35BEB5"/>
          </a:solidFill>
          <a:ln cap="flat" cmpd="sng" w="12700">
            <a:solidFill>
              <a:srgbClr val="35BE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2"/>
          <p:cNvSpPr/>
          <p:nvPr/>
        </p:nvSpPr>
        <p:spPr>
          <a:xfrm>
            <a:off x="817611" y="3337455"/>
            <a:ext cx="38400" cy="38400"/>
          </a:xfrm>
          <a:prstGeom prst="ellipse">
            <a:avLst/>
          </a:prstGeom>
          <a:solidFill>
            <a:srgbClr val="35BEB5"/>
          </a:solidFill>
          <a:ln cap="flat" cmpd="sng" w="12700">
            <a:solidFill>
              <a:srgbClr val="35BE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899907" y="3406035"/>
            <a:ext cx="38400" cy="38400"/>
          </a:xfrm>
          <a:prstGeom prst="ellipse">
            <a:avLst/>
          </a:prstGeom>
          <a:solidFill>
            <a:srgbClr val="35BEB5"/>
          </a:solidFill>
          <a:ln cap="flat" cmpd="sng" w="12700">
            <a:solidFill>
              <a:srgbClr val="35BE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2"/>
          <p:cNvSpPr/>
          <p:nvPr/>
        </p:nvSpPr>
        <p:spPr>
          <a:xfrm>
            <a:off x="954771" y="3234585"/>
            <a:ext cx="38400" cy="38400"/>
          </a:xfrm>
          <a:prstGeom prst="ellipse">
            <a:avLst/>
          </a:prstGeom>
          <a:solidFill>
            <a:srgbClr val="35BEB5"/>
          </a:solidFill>
          <a:ln cap="flat" cmpd="sng" w="12700">
            <a:solidFill>
              <a:srgbClr val="35BE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2"/>
          <p:cNvSpPr/>
          <p:nvPr/>
        </p:nvSpPr>
        <p:spPr>
          <a:xfrm>
            <a:off x="1064499" y="3145431"/>
            <a:ext cx="38400" cy="38400"/>
          </a:xfrm>
          <a:prstGeom prst="ellipse">
            <a:avLst/>
          </a:prstGeom>
          <a:solidFill>
            <a:srgbClr val="35BEB5"/>
          </a:solidFill>
          <a:ln cap="flat" cmpd="sng" w="12700">
            <a:solidFill>
              <a:srgbClr val="35BE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1146795" y="3296307"/>
            <a:ext cx="38400" cy="38400"/>
          </a:xfrm>
          <a:prstGeom prst="ellipse">
            <a:avLst/>
          </a:prstGeom>
          <a:solidFill>
            <a:srgbClr val="35BEB5"/>
          </a:solidFill>
          <a:ln cap="flat" cmpd="sng" w="12700">
            <a:solidFill>
              <a:srgbClr val="35BE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2"/>
          <p:cNvSpPr/>
          <p:nvPr/>
        </p:nvSpPr>
        <p:spPr>
          <a:xfrm>
            <a:off x="1229091" y="3076851"/>
            <a:ext cx="38400" cy="38400"/>
          </a:xfrm>
          <a:prstGeom prst="ellipse">
            <a:avLst/>
          </a:prstGeom>
          <a:solidFill>
            <a:srgbClr val="35BEB5"/>
          </a:solidFill>
          <a:ln cap="flat" cmpd="sng" w="12700">
            <a:solidFill>
              <a:srgbClr val="35BE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2"/>
          <p:cNvSpPr/>
          <p:nvPr/>
        </p:nvSpPr>
        <p:spPr>
          <a:xfrm>
            <a:off x="1325103" y="2994555"/>
            <a:ext cx="38400" cy="38400"/>
          </a:xfrm>
          <a:prstGeom prst="ellipse">
            <a:avLst/>
          </a:prstGeom>
          <a:solidFill>
            <a:srgbClr val="35BEB5"/>
          </a:solidFill>
          <a:ln cap="flat" cmpd="sng" w="12700">
            <a:solidFill>
              <a:srgbClr val="35BE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2"/>
          <p:cNvSpPr/>
          <p:nvPr/>
        </p:nvSpPr>
        <p:spPr>
          <a:xfrm>
            <a:off x="1844940" y="2897172"/>
            <a:ext cx="137100" cy="137100"/>
          </a:xfrm>
          <a:prstGeom prst="roundRect">
            <a:avLst>
              <a:gd fmla="val 16667" name="adj"/>
            </a:avLst>
          </a:prstGeom>
          <a:solidFill>
            <a:srgbClr val="5881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2"/>
          <p:cNvSpPr/>
          <p:nvPr/>
        </p:nvSpPr>
        <p:spPr>
          <a:xfrm>
            <a:off x="2030106" y="2897172"/>
            <a:ext cx="137100" cy="137100"/>
          </a:xfrm>
          <a:prstGeom prst="roundRect">
            <a:avLst>
              <a:gd fmla="val 16667" name="adj"/>
            </a:avLst>
          </a:prstGeom>
          <a:solidFill>
            <a:srgbClr val="35BEB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2"/>
          <p:cNvSpPr/>
          <p:nvPr/>
        </p:nvSpPr>
        <p:spPr>
          <a:xfrm>
            <a:off x="2215272" y="2897172"/>
            <a:ext cx="137100" cy="137100"/>
          </a:xfrm>
          <a:prstGeom prst="roundRect">
            <a:avLst>
              <a:gd fmla="val 16667" name="adj"/>
            </a:avLst>
          </a:prstGeom>
          <a:solidFill>
            <a:srgbClr val="F8B4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2"/>
          <p:cNvSpPr/>
          <p:nvPr/>
        </p:nvSpPr>
        <p:spPr>
          <a:xfrm>
            <a:off x="1844940" y="3082338"/>
            <a:ext cx="137100" cy="137100"/>
          </a:xfrm>
          <a:prstGeom prst="roundRect">
            <a:avLst>
              <a:gd fmla="val 16667" name="adj"/>
            </a:avLst>
          </a:prstGeom>
          <a:solidFill>
            <a:srgbClr val="AC83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2"/>
          <p:cNvSpPr/>
          <p:nvPr/>
        </p:nvSpPr>
        <p:spPr>
          <a:xfrm>
            <a:off x="2030106" y="3082338"/>
            <a:ext cx="137100" cy="137100"/>
          </a:xfrm>
          <a:prstGeom prst="roundRect">
            <a:avLst>
              <a:gd fmla="val 16667" name="adj"/>
            </a:avLst>
          </a:prstGeom>
          <a:solidFill>
            <a:srgbClr val="F5727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2"/>
          <p:cNvSpPr/>
          <p:nvPr/>
        </p:nvSpPr>
        <p:spPr>
          <a:xfrm>
            <a:off x="2215272" y="3082338"/>
            <a:ext cx="137100" cy="137100"/>
          </a:xfrm>
          <a:prstGeom prst="roundRect">
            <a:avLst>
              <a:gd fmla="val 16667" name="adj"/>
            </a:avLst>
          </a:prstGeom>
          <a:solidFill>
            <a:srgbClr val="61C97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2"/>
          <p:cNvSpPr/>
          <p:nvPr/>
        </p:nvSpPr>
        <p:spPr>
          <a:xfrm>
            <a:off x="1844940" y="3267504"/>
            <a:ext cx="137100" cy="137100"/>
          </a:xfrm>
          <a:prstGeom prst="roundRect">
            <a:avLst>
              <a:gd fmla="val 16667" name="adj"/>
            </a:avLst>
          </a:prstGeom>
          <a:solidFill>
            <a:srgbClr val="5881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2"/>
          <p:cNvSpPr/>
          <p:nvPr/>
        </p:nvSpPr>
        <p:spPr>
          <a:xfrm>
            <a:off x="2030106" y="3267504"/>
            <a:ext cx="137100" cy="137100"/>
          </a:xfrm>
          <a:prstGeom prst="roundRect">
            <a:avLst>
              <a:gd fmla="val 16667" name="adj"/>
            </a:avLst>
          </a:prstGeom>
          <a:solidFill>
            <a:srgbClr val="35BEB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2"/>
          <p:cNvSpPr/>
          <p:nvPr/>
        </p:nvSpPr>
        <p:spPr>
          <a:xfrm>
            <a:off x="2215272" y="3267504"/>
            <a:ext cx="137100" cy="137100"/>
          </a:xfrm>
          <a:prstGeom prst="roundRect">
            <a:avLst>
              <a:gd fmla="val 16667" name="adj"/>
            </a:avLst>
          </a:prstGeom>
          <a:solidFill>
            <a:srgbClr val="F8B43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2"/>
          <p:cNvSpPr/>
          <p:nvPr/>
        </p:nvSpPr>
        <p:spPr>
          <a:xfrm>
            <a:off x="2160408" y="3082338"/>
            <a:ext cx="27300" cy="27300"/>
          </a:xfrm>
          <a:prstGeom prst="ellipse">
            <a:avLst/>
          </a:prstGeom>
          <a:solidFill>
            <a:srgbClr val="828CA0"/>
          </a:solidFill>
          <a:ln cap="flat" cmpd="sng" w="12700">
            <a:solidFill>
              <a:srgbClr val="828C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2"/>
          <p:cNvSpPr/>
          <p:nvPr/>
        </p:nvSpPr>
        <p:spPr>
          <a:xfrm>
            <a:off x="2352432" y="3274362"/>
            <a:ext cx="27300" cy="27300"/>
          </a:xfrm>
          <a:prstGeom prst="ellipse">
            <a:avLst/>
          </a:prstGeom>
          <a:solidFill>
            <a:srgbClr val="828CA0"/>
          </a:solidFill>
          <a:ln cap="flat" cmpd="sng" w="12700">
            <a:solidFill>
              <a:srgbClr val="828C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2"/>
          <p:cNvSpPr/>
          <p:nvPr/>
        </p:nvSpPr>
        <p:spPr>
          <a:xfrm>
            <a:off x="2126118" y="3425238"/>
            <a:ext cx="27300" cy="27300"/>
          </a:xfrm>
          <a:prstGeom prst="ellipse">
            <a:avLst/>
          </a:prstGeom>
          <a:solidFill>
            <a:srgbClr val="828CA0"/>
          </a:solidFill>
          <a:ln cap="flat" cmpd="sng" w="12700">
            <a:solidFill>
              <a:srgbClr val="828C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2"/>
          <p:cNvSpPr/>
          <p:nvPr/>
        </p:nvSpPr>
        <p:spPr>
          <a:xfrm>
            <a:off x="2983367" y="2451402"/>
            <a:ext cx="685800" cy="35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881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2"/>
          <p:cNvSpPr/>
          <p:nvPr/>
        </p:nvSpPr>
        <p:spPr>
          <a:xfrm>
            <a:off x="3806328" y="1813608"/>
            <a:ext cx="1268700" cy="925800"/>
          </a:xfrm>
          <a:prstGeom prst="roundRect">
            <a:avLst>
              <a:gd fmla="val 20000" name="adj"/>
            </a:avLst>
          </a:prstGeom>
          <a:solidFill>
            <a:srgbClr val="EDF4FF"/>
          </a:solidFill>
          <a:ln cap="flat" cmpd="sng" w="19050">
            <a:solidFill>
              <a:srgbClr val="7487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2"/>
          <p:cNvSpPr/>
          <p:nvPr/>
        </p:nvSpPr>
        <p:spPr>
          <a:xfrm>
            <a:off x="4018926" y="2019348"/>
            <a:ext cx="843600" cy="507600"/>
          </a:xfrm>
          <a:prstGeom prst="roundRect">
            <a:avLst>
              <a:gd fmla="val 16667" name="adj"/>
            </a:avLst>
          </a:prstGeom>
          <a:solidFill>
            <a:srgbClr val="2B3A56"/>
          </a:solidFill>
          <a:ln cap="flat" cmpd="sng" w="19050">
            <a:solidFill>
              <a:srgbClr val="2B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2"/>
          <p:cNvSpPr/>
          <p:nvPr/>
        </p:nvSpPr>
        <p:spPr>
          <a:xfrm>
            <a:off x="4156086" y="2163366"/>
            <a:ext cx="123300" cy="123300"/>
          </a:xfrm>
          <a:prstGeom prst="ellipse">
            <a:avLst/>
          </a:prstGeom>
          <a:solidFill>
            <a:srgbClr val="48DFFF"/>
          </a:solidFill>
          <a:ln cap="flat" cmpd="sng" w="12700">
            <a:solidFill>
              <a:srgbClr val="48D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2"/>
          <p:cNvSpPr/>
          <p:nvPr/>
        </p:nvSpPr>
        <p:spPr>
          <a:xfrm>
            <a:off x="4588140" y="2163366"/>
            <a:ext cx="123300" cy="123300"/>
          </a:xfrm>
          <a:prstGeom prst="ellipse">
            <a:avLst/>
          </a:prstGeom>
          <a:solidFill>
            <a:srgbClr val="48DFFF"/>
          </a:solidFill>
          <a:ln cap="flat" cmpd="sng" w="12700">
            <a:solidFill>
              <a:srgbClr val="48D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42"/>
          <p:cNvCxnSpPr/>
          <p:nvPr/>
        </p:nvCxnSpPr>
        <p:spPr>
          <a:xfrm rot="10800000">
            <a:off x="4437264" y="1621434"/>
            <a:ext cx="0" cy="171600"/>
          </a:xfrm>
          <a:prstGeom prst="straightConnector1">
            <a:avLst/>
          </a:prstGeom>
          <a:noFill/>
          <a:ln cap="flat" cmpd="sng" w="25400">
            <a:solidFill>
              <a:srgbClr val="7487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74" name="Google Shape;274;p42"/>
          <p:cNvSpPr/>
          <p:nvPr/>
        </p:nvSpPr>
        <p:spPr>
          <a:xfrm>
            <a:off x="4382400" y="1525572"/>
            <a:ext cx="109800" cy="109800"/>
          </a:xfrm>
          <a:prstGeom prst="ellipse">
            <a:avLst/>
          </a:prstGeom>
          <a:solidFill>
            <a:srgbClr val="F57272"/>
          </a:solidFill>
          <a:ln cap="flat" cmpd="sng" w="12700">
            <a:solidFill>
              <a:srgbClr val="7487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2"/>
          <p:cNvSpPr/>
          <p:nvPr/>
        </p:nvSpPr>
        <p:spPr>
          <a:xfrm>
            <a:off x="3676025" y="2087927"/>
            <a:ext cx="123300" cy="377100"/>
          </a:xfrm>
          <a:prstGeom prst="roundRect">
            <a:avLst>
              <a:gd fmla="val 16667" name="adj"/>
            </a:avLst>
          </a:prstGeom>
          <a:solidFill>
            <a:srgbClr val="DFE7F4"/>
          </a:solidFill>
          <a:ln cap="flat" cmpd="sng" w="19050">
            <a:solidFill>
              <a:srgbClr val="7487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2"/>
          <p:cNvSpPr/>
          <p:nvPr/>
        </p:nvSpPr>
        <p:spPr>
          <a:xfrm>
            <a:off x="5088774" y="2087927"/>
            <a:ext cx="123300" cy="377100"/>
          </a:xfrm>
          <a:prstGeom prst="roundRect">
            <a:avLst>
              <a:gd fmla="val 16667" name="adj"/>
            </a:avLst>
          </a:prstGeom>
          <a:solidFill>
            <a:srgbClr val="DFE7F4"/>
          </a:solidFill>
          <a:ln cap="flat" cmpd="sng" w="19050">
            <a:solidFill>
              <a:srgbClr val="7487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2"/>
          <p:cNvSpPr/>
          <p:nvPr/>
        </p:nvSpPr>
        <p:spPr>
          <a:xfrm>
            <a:off x="4080648" y="2794302"/>
            <a:ext cx="720000" cy="493800"/>
          </a:xfrm>
          <a:prstGeom prst="roundRect">
            <a:avLst>
              <a:gd fmla="val 16667" name="adj"/>
            </a:avLst>
          </a:prstGeom>
          <a:solidFill>
            <a:srgbClr val="EDF4FF"/>
          </a:solidFill>
          <a:ln cap="flat" cmpd="sng" w="19050">
            <a:solidFill>
              <a:srgbClr val="7487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2"/>
          <p:cNvSpPr/>
          <p:nvPr/>
        </p:nvSpPr>
        <p:spPr>
          <a:xfrm>
            <a:off x="4210950" y="2931462"/>
            <a:ext cx="459600" cy="157800"/>
          </a:xfrm>
          <a:prstGeom prst="roundRect">
            <a:avLst>
              <a:gd fmla="val 16667" name="adj"/>
            </a:avLst>
          </a:prstGeom>
          <a:solidFill>
            <a:srgbClr val="2B3A56"/>
          </a:solidFill>
          <a:ln cap="flat" cmpd="sng" w="19050">
            <a:solidFill>
              <a:srgbClr val="2B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2"/>
          <p:cNvSpPr/>
          <p:nvPr/>
        </p:nvSpPr>
        <p:spPr>
          <a:xfrm>
            <a:off x="4265814" y="2972610"/>
            <a:ext cx="41100" cy="41100"/>
          </a:xfrm>
          <a:prstGeom prst="ellipse">
            <a:avLst/>
          </a:prstGeom>
          <a:solidFill>
            <a:srgbClr val="48DFFF"/>
          </a:solidFill>
          <a:ln cap="flat" cmpd="sng" w="12700">
            <a:solidFill>
              <a:srgbClr val="48D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2"/>
          <p:cNvSpPr/>
          <p:nvPr/>
        </p:nvSpPr>
        <p:spPr>
          <a:xfrm>
            <a:off x="4389258" y="2972610"/>
            <a:ext cx="41100" cy="41100"/>
          </a:xfrm>
          <a:prstGeom prst="ellipse">
            <a:avLst/>
          </a:prstGeom>
          <a:solidFill>
            <a:srgbClr val="48DFFF"/>
          </a:solidFill>
          <a:ln cap="flat" cmpd="sng" w="12700">
            <a:solidFill>
              <a:srgbClr val="48D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2"/>
          <p:cNvSpPr/>
          <p:nvPr/>
        </p:nvSpPr>
        <p:spPr>
          <a:xfrm>
            <a:off x="4512702" y="2972610"/>
            <a:ext cx="41100" cy="41100"/>
          </a:xfrm>
          <a:prstGeom prst="ellipse">
            <a:avLst/>
          </a:prstGeom>
          <a:solidFill>
            <a:srgbClr val="48DFFF"/>
          </a:solidFill>
          <a:ln cap="flat" cmpd="sng" w="12700">
            <a:solidFill>
              <a:srgbClr val="48D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42"/>
          <p:cNvCxnSpPr/>
          <p:nvPr/>
        </p:nvCxnSpPr>
        <p:spPr>
          <a:xfrm rot="10800000">
            <a:off x="3826848" y="2979468"/>
            <a:ext cx="253800" cy="0"/>
          </a:xfrm>
          <a:prstGeom prst="straightConnector1">
            <a:avLst/>
          </a:prstGeom>
          <a:noFill/>
          <a:ln cap="flat" cmpd="sng" w="31750">
            <a:solidFill>
              <a:srgbClr val="7487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83" name="Google Shape;283;p42"/>
          <p:cNvCxnSpPr/>
          <p:nvPr/>
        </p:nvCxnSpPr>
        <p:spPr>
          <a:xfrm>
            <a:off x="4800738" y="2979468"/>
            <a:ext cx="260700" cy="0"/>
          </a:xfrm>
          <a:prstGeom prst="straightConnector1">
            <a:avLst/>
          </a:prstGeom>
          <a:noFill/>
          <a:ln cap="flat" cmpd="sng" w="31750">
            <a:solidFill>
              <a:srgbClr val="7487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84" name="Google Shape;284;p42"/>
          <p:cNvSpPr/>
          <p:nvPr/>
        </p:nvSpPr>
        <p:spPr>
          <a:xfrm>
            <a:off x="3758322" y="2917746"/>
            <a:ext cx="109800" cy="109800"/>
          </a:xfrm>
          <a:prstGeom prst="ellipse">
            <a:avLst/>
          </a:prstGeom>
          <a:solidFill>
            <a:srgbClr val="5881FF"/>
          </a:solidFill>
          <a:ln cap="flat" cmpd="sng" w="12700">
            <a:solidFill>
              <a:srgbClr val="588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2"/>
          <p:cNvSpPr/>
          <p:nvPr/>
        </p:nvSpPr>
        <p:spPr>
          <a:xfrm>
            <a:off x="5047626" y="2917746"/>
            <a:ext cx="109800" cy="109800"/>
          </a:xfrm>
          <a:prstGeom prst="ellipse">
            <a:avLst/>
          </a:prstGeom>
          <a:solidFill>
            <a:srgbClr val="5881FF"/>
          </a:solidFill>
          <a:ln cap="flat" cmpd="sng" w="12700">
            <a:solidFill>
              <a:srgbClr val="588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2"/>
          <p:cNvSpPr/>
          <p:nvPr/>
        </p:nvSpPr>
        <p:spPr>
          <a:xfrm>
            <a:off x="4423548" y="3390948"/>
            <a:ext cx="24000" cy="24000"/>
          </a:xfrm>
          <a:prstGeom prst="ellipse">
            <a:avLst/>
          </a:prstGeom>
          <a:solidFill>
            <a:srgbClr val="788291"/>
          </a:solidFill>
          <a:ln cap="flat" cmpd="sng" w="12700">
            <a:solidFill>
              <a:srgbClr val="7882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2"/>
          <p:cNvSpPr/>
          <p:nvPr/>
        </p:nvSpPr>
        <p:spPr>
          <a:xfrm>
            <a:off x="4423548" y="3500675"/>
            <a:ext cx="24000" cy="24000"/>
          </a:xfrm>
          <a:prstGeom prst="ellipse">
            <a:avLst/>
          </a:prstGeom>
          <a:solidFill>
            <a:srgbClr val="788291"/>
          </a:solidFill>
          <a:ln cap="flat" cmpd="sng" w="12700">
            <a:solidFill>
              <a:srgbClr val="7882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2"/>
          <p:cNvSpPr/>
          <p:nvPr/>
        </p:nvSpPr>
        <p:spPr>
          <a:xfrm>
            <a:off x="4423548" y="3610404"/>
            <a:ext cx="24000" cy="24000"/>
          </a:xfrm>
          <a:prstGeom prst="ellipse">
            <a:avLst/>
          </a:prstGeom>
          <a:solidFill>
            <a:srgbClr val="788291"/>
          </a:solidFill>
          <a:ln cap="flat" cmpd="sng" w="12700">
            <a:solidFill>
              <a:srgbClr val="7882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2"/>
          <p:cNvSpPr/>
          <p:nvPr/>
        </p:nvSpPr>
        <p:spPr>
          <a:xfrm>
            <a:off x="4423548" y="3720131"/>
            <a:ext cx="24000" cy="24000"/>
          </a:xfrm>
          <a:prstGeom prst="ellipse">
            <a:avLst/>
          </a:prstGeom>
          <a:solidFill>
            <a:srgbClr val="788291"/>
          </a:solidFill>
          <a:ln cap="flat" cmpd="sng" w="12700">
            <a:solidFill>
              <a:srgbClr val="7882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4423548" y="3829860"/>
            <a:ext cx="24000" cy="24000"/>
          </a:xfrm>
          <a:prstGeom prst="ellipse">
            <a:avLst/>
          </a:prstGeom>
          <a:solidFill>
            <a:srgbClr val="788291"/>
          </a:solidFill>
          <a:ln cap="flat" cmpd="sng" w="12700">
            <a:solidFill>
              <a:srgbClr val="7882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5383668" y="2451402"/>
            <a:ext cx="685800" cy="35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5BEB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2"/>
          <p:cNvSpPr/>
          <p:nvPr/>
        </p:nvSpPr>
        <p:spPr>
          <a:xfrm>
            <a:off x="6412368" y="1710738"/>
            <a:ext cx="2091600" cy="1885800"/>
          </a:xfrm>
          <a:prstGeom prst="roundRect">
            <a:avLst>
              <a:gd fmla="val 16667" name="adj"/>
            </a:avLst>
          </a:prstGeom>
          <a:solidFill>
            <a:srgbClr val="FBFFFC"/>
          </a:solidFill>
          <a:ln cap="flat" cmpd="sng" w="25400">
            <a:solidFill>
              <a:srgbClr val="ADDDB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2"/>
          <p:cNvSpPr txBox="1"/>
          <p:nvPr/>
        </p:nvSpPr>
        <p:spPr>
          <a:xfrm>
            <a:off x="6686688" y="2019348"/>
            <a:ext cx="1543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48AA5A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endParaRPr sz="1100"/>
          </a:p>
        </p:txBody>
      </p:sp>
      <p:sp>
        <p:nvSpPr>
          <p:cNvPr id="294" name="Google Shape;294;p42"/>
          <p:cNvSpPr/>
          <p:nvPr/>
        </p:nvSpPr>
        <p:spPr>
          <a:xfrm>
            <a:off x="6961008" y="2760012"/>
            <a:ext cx="994500" cy="34200"/>
          </a:xfrm>
          <a:prstGeom prst="rect">
            <a:avLst/>
          </a:prstGeom>
          <a:solidFill>
            <a:srgbClr val="ADDDB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2"/>
          <p:cNvSpPr txBox="1"/>
          <p:nvPr/>
        </p:nvSpPr>
        <p:spPr>
          <a:xfrm>
            <a:off x="6686688" y="2890314"/>
            <a:ext cx="154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C6A82"/>
                </a:solidFill>
                <a:latin typeface="Arial"/>
                <a:ea typeface="Arial"/>
                <a:cs typeface="Arial"/>
                <a:sym typeface="Arial"/>
              </a:rPr>
              <a:t>single benchmark score</a:t>
            </a:r>
            <a:endParaRPr sz="1100"/>
          </a:p>
        </p:txBody>
      </p:sp>
      <p:sp>
        <p:nvSpPr>
          <p:cNvPr id="296" name="Google Shape;296;p42"/>
          <p:cNvSpPr/>
          <p:nvPr/>
        </p:nvSpPr>
        <p:spPr>
          <a:xfrm>
            <a:off x="3991494" y="3960162"/>
            <a:ext cx="877800" cy="768000"/>
          </a:xfrm>
          <a:prstGeom prst="cube">
            <a:avLst>
              <a:gd fmla="val 25000" name="adj"/>
            </a:avLst>
          </a:prstGeom>
          <a:solidFill>
            <a:srgbClr val="16161B"/>
          </a:solidFill>
          <a:ln cap="flat" cmpd="sng" w="19050">
            <a:solidFill>
              <a:srgbClr val="5C62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B4BAC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297" name="Google Shape;297;p42"/>
          <p:cNvSpPr txBox="1"/>
          <p:nvPr/>
        </p:nvSpPr>
        <p:spPr>
          <a:xfrm>
            <a:off x="822963" y="3872389"/>
            <a:ext cx="154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C6A82"/>
                </a:solidFill>
              </a:rPr>
              <a:t>Science Reasoning Task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81E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/>
          <p:nvPr/>
        </p:nvSpPr>
        <p:spPr>
          <a:xfrm>
            <a:off x="342900" y="308610"/>
            <a:ext cx="8456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BE4D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EEBE4D"/>
                </a:solidFill>
                <a:latin typeface="Arial"/>
                <a:ea typeface="Arial"/>
                <a:cs typeface="Arial"/>
                <a:sym typeface="Arial"/>
              </a:rPr>
              <a:t>Demand is intrinsic to claim evidence pairs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5623560" y="1474470"/>
            <a:ext cx="3120300" cy="2811900"/>
          </a:xfrm>
          <a:prstGeom prst="roundRect">
            <a:avLst>
              <a:gd fmla="val 2927" name="adj"/>
            </a:avLst>
          </a:prstGeom>
          <a:solidFill>
            <a:srgbClr val="F5F5F2"/>
          </a:solidFill>
          <a:ln cap="flat" cmpd="sng" w="9525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5010" y="1645920"/>
            <a:ext cx="2811900" cy="25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/>
          <p:nvPr/>
        </p:nvSpPr>
        <p:spPr>
          <a:xfrm>
            <a:off x="5623560" y="1152144"/>
            <a:ext cx="31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8C4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FC8C4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651510" y="1371600"/>
            <a:ext cx="2057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8C4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4FC8C4"/>
                </a:solidFill>
                <a:latin typeface="Arial"/>
                <a:ea typeface="Arial"/>
                <a:cs typeface="Arial"/>
                <a:sym typeface="Arial"/>
              </a:rPr>
              <a:t>EASY 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3"/>
          <p:cNvSpPr/>
          <p:nvPr/>
        </p:nvSpPr>
        <p:spPr>
          <a:xfrm>
            <a:off x="617220" y="1645920"/>
            <a:ext cx="2057400" cy="685800"/>
          </a:xfrm>
          <a:prstGeom prst="roundRect">
            <a:avLst>
              <a:gd fmla="val 18000" name="adj"/>
            </a:avLst>
          </a:prstGeom>
          <a:solidFill>
            <a:srgbClr val="F5F5F2"/>
          </a:solidFill>
          <a:ln cap="flat" cmpd="sng" w="9525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3"/>
          <p:cNvSpPr/>
          <p:nvPr/>
        </p:nvSpPr>
        <p:spPr>
          <a:xfrm>
            <a:off x="617220" y="1645920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229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F2229"/>
                </a:solidFill>
                <a:latin typeface="Arial"/>
                <a:ea typeface="Arial"/>
                <a:cs typeface="Arial"/>
                <a:sym typeface="Arial"/>
              </a:rPr>
              <a:t>How many lines?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3154680" y="1529334"/>
            <a:ext cx="171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8C4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C8C4"/>
                </a:solidFill>
                <a:latin typeface="Arial"/>
                <a:ea typeface="Arial"/>
                <a:cs typeface="Arial"/>
                <a:sym typeface="Arial"/>
              </a:rPr>
              <a:t>LOW DEMAND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3168396" y="1762506"/>
            <a:ext cx="205800" cy="89100"/>
          </a:xfrm>
          <a:prstGeom prst="roundRect">
            <a:avLst>
              <a:gd fmla="val 30769" name="adj"/>
            </a:avLst>
          </a:prstGeom>
          <a:solidFill>
            <a:srgbClr val="4FC8C4"/>
          </a:solidFill>
          <a:ln cap="flat" cmpd="sng" w="7150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3"/>
          <p:cNvSpPr/>
          <p:nvPr/>
        </p:nvSpPr>
        <p:spPr>
          <a:xfrm>
            <a:off x="3442716" y="1762506"/>
            <a:ext cx="205800" cy="89100"/>
          </a:xfrm>
          <a:prstGeom prst="roundRect">
            <a:avLst>
              <a:gd fmla="val 30769" name="adj"/>
            </a:avLst>
          </a:prstGeom>
          <a:solidFill>
            <a:srgbClr val="2A2E38"/>
          </a:solidFill>
          <a:ln cap="flat" cmpd="sng" w="7150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3"/>
          <p:cNvSpPr/>
          <p:nvPr/>
        </p:nvSpPr>
        <p:spPr>
          <a:xfrm>
            <a:off x="3717036" y="1762506"/>
            <a:ext cx="205800" cy="89100"/>
          </a:xfrm>
          <a:prstGeom prst="roundRect">
            <a:avLst>
              <a:gd fmla="val 30769" name="adj"/>
            </a:avLst>
          </a:prstGeom>
          <a:solidFill>
            <a:srgbClr val="2A2E38"/>
          </a:solidFill>
          <a:ln cap="flat" cmpd="sng" w="7150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3"/>
          <p:cNvSpPr/>
          <p:nvPr/>
        </p:nvSpPr>
        <p:spPr>
          <a:xfrm>
            <a:off x="3991356" y="1762506"/>
            <a:ext cx="205800" cy="89100"/>
          </a:xfrm>
          <a:prstGeom prst="roundRect">
            <a:avLst>
              <a:gd fmla="val 30769" name="adj"/>
            </a:avLst>
          </a:prstGeom>
          <a:solidFill>
            <a:srgbClr val="2A2E38"/>
          </a:solidFill>
          <a:ln cap="flat" cmpd="sng" w="7150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3"/>
          <p:cNvSpPr/>
          <p:nvPr/>
        </p:nvSpPr>
        <p:spPr>
          <a:xfrm>
            <a:off x="4265676" y="1762506"/>
            <a:ext cx="205800" cy="89100"/>
          </a:xfrm>
          <a:prstGeom prst="roundRect">
            <a:avLst>
              <a:gd fmla="val 30769" name="adj"/>
            </a:avLst>
          </a:prstGeom>
          <a:solidFill>
            <a:srgbClr val="2A2E38"/>
          </a:solidFill>
          <a:ln cap="flat" cmpd="sng" w="7150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6" name="Google Shape;316;p43"/>
          <p:cNvCxnSpPr/>
          <p:nvPr/>
        </p:nvCxnSpPr>
        <p:spPr>
          <a:xfrm>
            <a:off x="2777490" y="2105406"/>
            <a:ext cx="2709000" cy="0"/>
          </a:xfrm>
          <a:prstGeom prst="straightConnector1">
            <a:avLst/>
          </a:prstGeom>
          <a:noFill/>
          <a:ln cap="flat" cmpd="sng" w="21425">
            <a:solidFill>
              <a:srgbClr val="4FC8C4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317" name="Google Shape;317;p43"/>
          <p:cNvSpPr/>
          <p:nvPr/>
        </p:nvSpPr>
        <p:spPr>
          <a:xfrm>
            <a:off x="651510" y="3051810"/>
            <a:ext cx="2057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8474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ED8474"/>
                </a:solidFill>
                <a:latin typeface="Arial"/>
                <a:ea typeface="Arial"/>
                <a:cs typeface="Arial"/>
                <a:sym typeface="Arial"/>
              </a:rPr>
              <a:t>HARD CLAIM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3"/>
          <p:cNvSpPr/>
          <p:nvPr/>
        </p:nvSpPr>
        <p:spPr>
          <a:xfrm>
            <a:off x="617220" y="3326130"/>
            <a:ext cx="2057400" cy="857400"/>
          </a:xfrm>
          <a:prstGeom prst="roundRect">
            <a:avLst>
              <a:gd fmla="val 14400" name="adj"/>
            </a:avLst>
          </a:prstGeom>
          <a:solidFill>
            <a:srgbClr val="F5F5F2"/>
          </a:solidFill>
          <a:ln cap="flat" cmpd="sng" w="9525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3"/>
          <p:cNvSpPr/>
          <p:nvPr/>
        </p:nvSpPr>
        <p:spPr>
          <a:xfrm>
            <a:off x="617220" y="3326130"/>
            <a:ext cx="2057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229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F2229"/>
                </a:solidFill>
                <a:latin typeface="Arial"/>
                <a:ea typeface="Arial"/>
                <a:cs typeface="Arial"/>
                <a:sym typeface="Arial"/>
              </a:rPr>
              <a:t>Which line has the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229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F2229"/>
                </a:solidFill>
                <a:latin typeface="Arial"/>
                <a:ea typeface="Arial"/>
                <a:cs typeface="Arial"/>
                <a:sym typeface="Arial"/>
              </a:rPr>
              <a:t>greatest AUC?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43"/>
          <p:cNvCxnSpPr/>
          <p:nvPr/>
        </p:nvCxnSpPr>
        <p:spPr>
          <a:xfrm>
            <a:off x="2777490" y="3758184"/>
            <a:ext cx="2709000" cy="0"/>
          </a:xfrm>
          <a:prstGeom prst="straightConnector1">
            <a:avLst/>
          </a:prstGeom>
          <a:noFill/>
          <a:ln cap="flat" cmpd="sng" w="21425">
            <a:solidFill>
              <a:srgbClr val="ED8474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321" name="Google Shape;321;p43"/>
          <p:cNvSpPr/>
          <p:nvPr/>
        </p:nvSpPr>
        <p:spPr>
          <a:xfrm>
            <a:off x="3257550" y="3538728"/>
            <a:ext cx="438900" cy="438900"/>
          </a:xfrm>
          <a:prstGeom prst="ellipse">
            <a:avLst/>
          </a:prstGeom>
          <a:solidFill>
            <a:srgbClr val="16181E"/>
          </a:solidFill>
          <a:ln cap="flat" cmpd="sng" w="19050">
            <a:solidFill>
              <a:srgbClr val="ED8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0420" y="3641598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3"/>
          <p:cNvSpPr/>
          <p:nvPr/>
        </p:nvSpPr>
        <p:spPr>
          <a:xfrm>
            <a:off x="3874770" y="3538728"/>
            <a:ext cx="438900" cy="438900"/>
          </a:xfrm>
          <a:prstGeom prst="ellipse">
            <a:avLst/>
          </a:prstGeom>
          <a:solidFill>
            <a:srgbClr val="16181E"/>
          </a:solidFill>
          <a:ln cap="flat" cmpd="sng" w="19050">
            <a:solidFill>
              <a:srgbClr val="ED8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7640" y="3641598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/>
          <p:nvPr/>
        </p:nvSpPr>
        <p:spPr>
          <a:xfrm>
            <a:off x="4491990" y="3538728"/>
            <a:ext cx="438900" cy="438900"/>
          </a:xfrm>
          <a:prstGeom prst="ellipse">
            <a:avLst/>
          </a:prstGeom>
          <a:solidFill>
            <a:srgbClr val="16181E"/>
          </a:solidFill>
          <a:ln cap="flat" cmpd="sng" w="19050">
            <a:solidFill>
              <a:srgbClr val="ED84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4860" y="3641598"/>
            <a:ext cx="233172" cy="23317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3"/>
          <p:cNvSpPr/>
          <p:nvPr/>
        </p:nvSpPr>
        <p:spPr>
          <a:xfrm>
            <a:off x="3154680" y="3031236"/>
            <a:ext cx="1714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8474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D8474"/>
                </a:solidFill>
                <a:latin typeface="Arial"/>
                <a:ea typeface="Arial"/>
                <a:cs typeface="Arial"/>
                <a:sym typeface="Arial"/>
              </a:rPr>
              <a:t>HIGH DEMAND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3"/>
          <p:cNvSpPr/>
          <p:nvPr/>
        </p:nvSpPr>
        <p:spPr>
          <a:xfrm>
            <a:off x="3168396" y="3264408"/>
            <a:ext cx="205800" cy="89100"/>
          </a:xfrm>
          <a:prstGeom prst="roundRect">
            <a:avLst>
              <a:gd fmla="val 30769" name="adj"/>
            </a:avLst>
          </a:prstGeom>
          <a:solidFill>
            <a:srgbClr val="ED8474"/>
          </a:solidFill>
          <a:ln cap="flat" cmpd="sng" w="7150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3"/>
          <p:cNvSpPr/>
          <p:nvPr/>
        </p:nvSpPr>
        <p:spPr>
          <a:xfrm>
            <a:off x="3442716" y="3264408"/>
            <a:ext cx="205800" cy="89100"/>
          </a:xfrm>
          <a:prstGeom prst="roundRect">
            <a:avLst>
              <a:gd fmla="val 30769" name="adj"/>
            </a:avLst>
          </a:prstGeom>
          <a:solidFill>
            <a:srgbClr val="ED8474"/>
          </a:solidFill>
          <a:ln cap="flat" cmpd="sng" w="7150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3"/>
          <p:cNvSpPr/>
          <p:nvPr/>
        </p:nvSpPr>
        <p:spPr>
          <a:xfrm>
            <a:off x="3717036" y="3264408"/>
            <a:ext cx="205800" cy="89100"/>
          </a:xfrm>
          <a:prstGeom prst="roundRect">
            <a:avLst>
              <a:gd fmla="val 30769" name="adj"/>
            </a:avLst>
          </a:prstGeom>
          <a:solidFill>
            <a:srgbClr val="ED8474"/>
          </a:solidFill>
          <a:ln cap="flat" cmpd="sng" w="7150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3"/>
          <p:cNvSpPr/>
          <p:nvPr/>
        </p:nvSpPr>
        <p:spPr>
          <a:xfrm>
            <a:off x="3991356" y="3264408"/>
            <a:ext cx="205800" cy="89100"/>
          </a:xfrm>
          <a:prstGeom prst="roundRect">
            <a:avLst>
              <a:gd fmla="val 30769" name="adj"/>
            </a:avLst>
          </a:prstGeom>
          <a:solidFill>
            <a:srgbClr val="ED8474"/>
          </a:solidFill>
          <a:ln cap="flat" cmpd="sng" w="7150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3"/>
          <p:cNvSpPr/>
          <p:nvPr/>
        </p:nvSpPr>
        <p:spPr>
          <a:xfrm>
            <a:off x="4265676" y="3264408"/>
            <a:ext cx="205800" cy="89100"/>
          </a:xfrm>
          <a:prstGeom prst="roundRect">
            <a:avLst>
              <a:gd fmla="val 30769" name="adj"/>
            </a:avLst>
          </a:prstGeom>
          <a:solidFill>
            <a:srgbClr val="2A2E38"/>
          </a:solidFill>
          <a:ln cap="flat" cmpd="sng" w="7150">
            <a:solidFill>
              <a:srgbClr val="3A3E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/>
          <p:nvPr/>
        </p:nvSpPr>
        <p:spPr>
          <a:xfrm>
            <a:off x="0" y="0"/>
            <a:ext cx="9143771" cy="7543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4"/>
          <p:cNvSpPr txBox="1"/>
          <p:nvPr/>
        </p:nvSpPr>
        <p:spPr>
          <a:xfrm>
            <a:off x="308610" y="194699"/>
            <a:ext cx="8503920" cy="39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</a:t>
            </a: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claim-evidence science</a:t>
            </a:r>
            <a:r>
              <a:rPr b="1" i="0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-reasoning benchmarks</a:t>
            </a:r>
            <a:endParaRPr sz="1100"/>
          </a:p>
        </p:txBody>
      </p:sp>
      <p:sp>
        <p:nvSpPr>
          <p:cNvPr id="340" name="Google Shape;340;p44"/>
          <p:cNvSpPr/>
          <p:nvPr/>
        </p:nvSpPr>
        <p:spPr>
          <a:xfrm>
            <a:off x="76124" y="2093273"/>
            <a:ext cx="2743200" cy="44577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SciVer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4"/>
          <p:cNvSpPr/>
          <p:nvPr/>
        </p:nvSpPr>
        <p:spPr>
          <a:xfrm>
            <a:off x="2922194" y="2093273"/>
            <a:ext cx="2743200" cy="445770"/>
          </a:xfrm>
          <a:prstGeom prst="roundRect">
            <a:avLst>
              <a:gd fmla="val 16667" name="adj"/>
            </a:avLst>
          </a:prstGeom>
          <a:solidFill>
            <a:srgbClr val="6A4C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SciClaimEval</a:t>
            </a:r>
            <a:endParaRPr b="1" i="0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4"/>
          <p:cNvSpPr/>
          <p:nvPr/>
        </p:nvSpPr>
        <p:spPr>
          <a:xfrm>
            <a:off x="6254786" y="2093273"/>
            <a:ext cx="2743200" cy="445770"/>
          </a:xfrm>
          <a:prstGeom prst="roundRect">
            <a:avLst>
              <a:gd fmla="val 16667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CharXiv</a:t>
            </a:r>
            <a:endParaRPr sz="1100"/>
          </a:p>
        </p:txBody>
      </p:sp>
      <p:sp>
        <p:nvSpPr>
          <p:cNvPr id="343" name="Google Shape;343;p44"/>
          <p:cNvSpPr txBox="1"/>
          <p:nvPr/>
        </p:nvSpPr>
        <p:spPr>
          <a:xfrm>
            <a:off x="6254786" y="2837292"/>
            <a:ext cx="2743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1000 validated reasoning </a:t>
            </a:r>
            <a:r>
              <a:rPr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•Answer</a:t>
            </a:r>
            <a:r>
              <a:rPr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 for</a:t>
            </a: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39 models </a:t>
            </a:r>
            <a:endParaRPr b="0" i="0" sz="11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(incl. Human,</a:t>
            </a:r>
            <a:r>
              <a:rPr lang="en" sz="1100"/>
              <a:t> </a:t>
            </a: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GPT-4o-</a:t>
            </a:r>
            <a:r>
              <a:rPr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Blind</a:t>
            </a: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baselines)</a:t>
            </a:r>
            <a:endParaRPr sz="1100"/>
          </a:p>
        </p:txBody>
      </p:sp>
      <p:cxnSp>
        <p:nvCxnSpPr>
          <p:cNvPr id="344" name="Google Shape;344;p44"/>
          <p:cNvCxnSpPr/>
          <p:nvPr/>
        </p:nvCxnSpPr>
        <p:spPr>
          <a:xfrm>
            <a:off x="5978387" y="864704"/>
            <a:ext cx="0" cy="4055165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5" name="Google Shape;345;p44"/>
          <p:cNvSpPr/>
          <p:nvPr/>
        </p:nvSpPr>
        <p:spPr>
          <a:xfrm rot="5400000">
            <a:off x="2614453" y="-1216424"/>
            <a:ext cx="512611" cy="5589269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4"/>
          <p:cNvSpPr txBox="1"/>
          <p:nvPr/>
        </p:nvSpPr>
        <p:spPr>
          <a:xfrm>
            <a:off x="2196548" y="959181"/>
            <a:ext cx="19381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1100"/>
          </a:p>
        </p:txBody>
      </p:sp>
      <p:sp>
        <p:nvSpPr>
          <p:cNvPr id="347" name="Google Shape;347;p44"/>
          <p:cNvSpPr txBox="1"/>
          <p:nvPr/>
        </p:nvSpPr>
        <p:spPr>
          <a:xfrm>
            <a:off x="7409623" y="1008328"/>
            <a:ext cx="19381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sz="1100"/>
          </a:p>
        </p:txBody>
      </p:sp>
      <p:sp>
        <p:nvSpPr>
          <p:cNvPr id="348" name="Google Shape;348;p44"/>
          <p:cNvSpPr txBox="1"/>
          <p:nvPr/>
        </p:nvSpPr>
        <p:spPr>
          <a:xfrm>
            <a:off x="76136" y="2797793"/>
            <a:ext cx="2743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817 validated reasoning tasks</a:t>
            </a:r>
            <a:endParaRPr sz="1100"/>
          </a:p>
        </p:txBody>
      </p:sp>
      <p:sp>
        <p:nvSpPr>
          <p:cNvPr id="349" name="Google Shape;349;p44"/>
          <p:cNvSpPr txBox="1"/>
          <p:nvPr/>
        </p:nvSpPr>
        <p:spPr>
          <a:xfrm>
            <a:off x="2958786" y="2797793"/>
            <a:ext cx="2743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265</a:t>
            </a:r>
            <a:r>
              <a:rPr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validated reasoning tasks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5"/>
          <p:cNvSpPr/>
          <p:nvPr/>
        </p:nvSpPr>
        <p:spPr>
          <a:xfrm>
            <a:off x="0" y="0"/>
            <a:ext cx="9143771" cy="7543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45"/>
          <p:cNvPicPr preferRelativeResize="0"/>
          <p:nvPr/>
        </p:nvPicPr>
        <p:blipFill rotWithShape="1">
          <a:blip r:embed="rId3">
            <a:alphaModFix/>
          </a:blip>
          <a:srcRect b="54653" l="4105" r="4471" t="0"/>
          <a:stretch/>
        </p:blipFill>
        <p:spPr>
          <a:xfrm>
            <a:off x="139950" y="778150"/>
            <a:ext cx="4863048" cy="1971924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 txBox="1"/>
          <p:nvPr/>
        </p:nvSpPr>
        <p:spPr>
          <a:xfrm>
            <a:off x="249100" y="2590225"/>
            <a:ext cx="3989100" cy="24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Zhou et al., Nature 2026</a:t>
            </a: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— measures what a task demands</a:t>
            </a:r>
            <a:endParaRPr sz="1100"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We </a:t>
            </a:r>
            <a:r>
              <a:rPr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repurpose</a:t>
            </a: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the text rubrics for </a:t>
            </a:r>
            <a:r>
              <a:rPr b="0" i="1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visual</a:t>
            </a:r>
            <a:r>
              <a:rPr i="1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Our approach:</a:t>
            </a: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leverage frontier VLMs (Fable/Opus) to engineer the missing visual demand dim</a:t>
            </a:r>
            <a:r>
              <a:rPr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ensions</a:t>
            </a:r>
            <a:r>
              <a:rPr b="0" i="0" lang="en" sz="1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, with Zhou et al. as the guide </a:t>
            </a:r>
            <a:endParaRPr sz="1100"/>
          </a:p>
        </p:txBody>
      </p:sp>
      <p:sp>
        <p:nvSpPr>
          <p:cNvPr id="358" name="Google Shape;358;p45"/>
          <p:cNvSpPr txBox="1"/>
          <p:nvPr/>
        </p:nvSpPr>
        <p:spPr>
          <a:xfrm>
            <a:off x="5532120" y="868680"/>
            <a:ext cx="353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MCu — Calibrating Knowns and Unknowns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rubric R2, each demand rated 0–5</a:t>
            </a:r>
            <a:endParaRPr/>
          </a:p>
        </p:txBody>
      </p:sp>
      <p:sp>
        <p:nvSpPr>
          <p:cNvPr id="359" name="Google Shape;359;p45"/>
          <p:cNvSpPr/>
          <p:nvPr/>
        </p:nvSpPr>
        <p:spPr>
          <a:xfrm>
            <a:off x="5532120" y="1481328"/>
            <a:ext cx="932700" cy="4572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0  None</a:t>
            </a:r>
            <a:endParaRPr/>
          </a:p>
        </p:txBody>
      </p:sp>
      <p:sp>
        <p:nvSpPr>
          <p:cNvPr id="360" name="Google Shape;360;p45"/>
          <p:cNvSpPr txBox="1"/>
          <p:nvPr/>
        </p:nvSpPr>
        <p:spPr>
          <a:xfrm>
            <a:off x="6556248" y="1481328"/>
            <a:ext cx="235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Immediately clear whether you know it or not; no self-assessment needed.</a:t>
            </a:r>
            <a:endParaRPr/>
          </a:p>
        </p:txBody>
      </p:sp>
      <p:sp>
        <p:nvSpPr>
          <p:cNvPr id="361" name="Google Shape;361;p45"/>
          <p:cNvSpPr/>
          <p:nvPr/>
        </p:nvSpPr>
        <p:spPr>
          <a:xfrm>
            <a:off x="5532120" y="2011680"/>
            <a:ext cx="932700" cy="457200"/>
          </a:xfrm>
          <a:prstGeom prst="rect">
            <a:avLst/>
          </a:prstGeom>
          <a:solidFill>
            <a:srgbClr val="D9CE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  Very low</a:t>
            </a:r>
            <a:endParaRPr/>
          </a:p>
        </p:txBody>
      </p:sp>
      <p:sp>
        <p:nvSpPr>
          <p:cNvPr id="362" name="Google Shape;362;p45"/>
          <p:cNvSpPr txBox="1"/>
          <p:nvPr/>
        </p:nvSpPr>
        <p:spPr>
          <a:xfrm>
            <a:off x="6556248" y="2011680"/>
            <a:ext cx="235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Minimal effort; the boundary between knowing and not knowing is very clear.</a:t>
            </a:r>
            <a:endParaRPr/>
          </a:p>
        </p:txBody>
      </p:sp>
      <p:sp>
        <p:nvSpPr>
          <p:cNvPr id="363" name="Google Shape;363;p45"/>
          <p:cNvSpPr/>
          <p:nvPr/>
        </p:nvSpPr>
        <p:spPr>
          <a:xfrm>
            <a:off x="5532120" y="2542032"/>
            <a:ext cx="932700" cy="457200"/>
          </a:xfrm>
          <a:prstGeom prst="rect">
            <a:avLst/>
          </a:prstGeom>
          <a:solidFill>
            <a:srgbClr val="C6B5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2  Low</a:t>
            </a:r>
            <a:endParaRPr/>
          </a:p>
        </p:txBody>
      </p:sp>
      <p:sp>
        <p:nvSpPr>
          <p:cNvPr id="364" name="Google Shape;364;p45"/>
          <p:cNvSpPr txBox="1"/>
          <p:nvPr/>
        </p:nvSpPr>
        <p:spPr>
          <a:xfrm>
            <a:off x="6556248" y="2542032"/>
            <a:ext cx="235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Some effort to check what you know, but the assessment is straightforward.</a:t>
            </a:r>
            <a:endParaRPr/>
          </a:p>
        </p:txBody>
      </p:sp>
      <p:sp>
        <p:nvSpPr>
          <p:cNvPr id="365" name="Google Shape;365;p45"/>
          <p:cNvSpPr/>
          <p:nvPr/>
        </p:nvSpPr>
        <p:spPr>
          <a:xfrm>
            <a:off x="5532120" y="3072384"/>
            <a:ext cx="932700" cy="457200"/>
          </a:xfrm>
          <a:prstGeom prst="rect">
            <a:avLst/>
          </a:prstGeom>
          <a:solidFill>
            <a:srgbClr val="B39DD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3  Medium</a:t>
            </a:r>
            <a:endParaRPr/>
          </a:p>
        </p:txBody>
      </p:sp>
      <p:sp>
        <p:nvSpPr>
          <p:cNvPr id="366" name="Google Shape;366;p45"/>
          <p:cNvSpPr txBox="1"/>
          <p:nvPr/>
        </p:nvSpPr>
        <p:spPr>
          <a:xfrm>
            <a:off x="6556248" y="3072384"/>
            <a:ext cx="235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Moderate effort; you may only think you know rather than truly know.</a:t>
            </a:r>
            <a:endParaRPr/>
          </a:p>
        </p:txBody>
      </p:sp>
      <p:sp>
        <p:nvSpPr>
          <p:cNvPr id="367" name="Google Shape;367;p45"/>
          <p:cNvSpPr/>
          <p:nvPr/>
        </p:nvSpPr>
        <p:spPr>
          <a:xfrm>
            <a:off x="5532120" y="3602736"/>
            <a:ext cx="932700" cy="457200"/>
          </a:xfrm>
          <a:prstGeom prst="rect">
            <a:avLst/>
          </a:prstGeom>
          <a:solidFill>
            <a:srgbClr val="9B7FD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 High</a:t>
            </a:r>
            <a:endParaRPr/>
          </a:p>
        </p:txBody>
      </p:sp>
      <p:sp>
        <p:nvSpPr>
          <p:cNvPr id="368" name="Google Shape;368;p45"/>
          <p:cNvSpPr txBox="1"/>
          <p:nvPr/>
        </p:nvSpPr>
        <p:spPr>
          <a:xfrm>
            <a:off x="6556248" y="3602736"/>
            <a:ext cx="235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Significant effort; the line between knowing and not knowing blurs.</a:t>
            </a:r>
            <a:endParaRPr/>
          </a:p>
        </p:txBody>
      </p:sp>
      <p:sp>
        <p:nvSpPr>
          <p:cNvPr id="369" name="Google Shape;369;p45"/>
          <p:cNvSpPr/>
          <p:nvPr/>
        </p:nvSpPr>
        <p:spPr>
          <a:xfrm>
            <a:off x="5532120" y="4133088"/>
            <a:ext cx="932700" cy="4572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5+ Very high</a:t>
            </a:r>
            <a:endParaRPr/>
          </a:p>
        </p:txBody>
      </p:sp>
      <p:sp>
        <p:nvSpPr>
          <p:cNvPr id="370" name="Google Shape;370;p45"/>
          <p:cNvSpPr txBox="1"/>
          <p:nvPr/>
        </p:nvSpPr>
        <p:spPr>
          <a:xfrm>
            <a:off x="6556248" y="4133088"/>
            <a:ext cx="235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Sophisticated self-assessment to avoid over- or under-confidence.</a:t>
            </a:r>
            <a:endParaRPr/>
          </a:p>
        </p:txBody>
      </p:sp>
      <p:sp>
        <p:nvSpPr>
          <p:cNvPr id="371" name="Google Shape;371;p45"/>
          <p:cNvSpPr txBox="1"/>
          <p:nvPr/>
        </p:nvSpPr>
        <p:spPr>
          <a:xfrm>
            <a:off x="5532120" y="4663440"/>
            <a:ext cx="353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en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Zhou, L. et al. General scales unlock AI evaluation with explanatory and predictive power. Nature (2026).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/>
          <p:nvPr/>
        </p:nvSpPr>
        <p:spPr>
          <a:xfrm>
            <a:off x="0" y="0"/>
            <a:ext cx="9143771" cy="7543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46"/>
          <p:cNvSpPr/>
          <p:nvPr/>
        </p:nvSpPr>
        <p:spPr>
          <a:xfrm>
            <a:off x="342900" y="150876"/>
            <a:ext cx="8455914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6"/>
          <p:cNvSpPr/>
          <p:nvPr/>
        </p:nvSpPr>
        <p:spPr>
          <a:xfrm>
            <a:off x="342900" y="301752"/>
            <a:ext cx="845591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Engineering of emergent visual demand dimensions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6"/>
          <p:cNvSpPr/>
          <p:nvPr/>
        </p:nvSpPr>
        <p:spPr>
          <a:xfrm>
            <a:off x="2811780" y="2002536"/>
            <a:ext cx="480060" cy="1783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87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6"/>
          <p:cNvSpPr/>
          <p:nvPr/>
        </p:nvSpPr>
        <p:spPr>
          <a:xfrm>
            <a:off x="3326130" y="905256"/>
            <a:ext cx="24345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44441"/>
                </a:solidFill>
                <a:latin typeface="Calibri"/>
                <a:ea typeface="Calibri"/>
                <a:cs typeface="Calibri"/>
                <a:sym typeface="Calibri"/>
              </a:rPr>
              <a:t>2 · Semantic grouping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6"/>
          <p:cNvSpPr/>
          <p:nvPr/>
        </p:nvSpPr>
        <p:spPr>
          <a:xfrm>
            <a:off x="3326130" y="1165860"/>
            <a:ext cx="2434590" cy="1885950"/>
          </a:xfrm>
          <a:prstGeom prst="roundRect">
            <a:avLst>
              <a:gd fmla="val 2182" name="adj"/>
            </a:avLst>
          </a:prstGeom>
          <a:solidFill>
            <a:srgbClr val="D3D1C7">
              <a:alpha val="65098"/>
            </a:srgbClr>
          </a:solidFill>
          <a:ln cap="flat" cmpd="sng" w="12700">
            <a:solidFill>
              <a:srgbClr val="8887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6"/>
          <p:cNvSpPr/>
          <p:nvPr/>
        </p:nvSpPr>
        <p:spPr>
          <a:xfrm>
            <a:off x="3394710" y="1207008"/>
            <a:ext cx="229743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9 parent dimensions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6"/>
          <p:cNvSpPr/>
          <p:nvPr/>
        </p:nvSpPr>
        <p:spPr>
          <a:xfrm>
            <a:off x="3600450" y="1577340"/>
            <a:ext cx="1885950" cy="109728"/>
          </a:xfrm>
          <a:prstGeom prst="roundRect">
            <a:avLst>
              <a:gd fmla="val 31250" name="adj"/>
            </a:avLst>
          </a:prstGeom>
          <a:solidFill>
            <a:srgbClr val="9FE1CB"/>
          </a:solidFill>
          <a:ln cap="flat" cmpd="sng" w="1587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6"/>
          <p:cNvSpPr/>
          <p:nvPr/>
        </p:nvSpPr>
        <p:spPr>
          <a:xfrm>
            <a:off x="3600450" y="1769364"/>
            <a:ext cx="1885950" cy="109728"/>
          </a:xfrm>
          <a:prstGeom prst="roundRect">
            <a:avLst>
              <a:gd fmla="val 31250" name="adj"/>
            </a:avLst>
          </a:prstGeom>
          <a:solidFill>
            <a:srgbClr val="9FE1CB"/>
          </a:solidFill>
          <a:ln cap="flat" cmpd="sng" w="1587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6"/>
          <p:cNvSpPr/>
          <p:nvPr/>
        </p:nvSpPr>
        <p:spPr>
          <a:xfrm>
            <a:off x="3600450" y="1961388"/>
            <a:ext cx="1885950" cy="109728"/>
          </a:xfrm>
          <a:prstGeom prst="roundRect">
            <a:avLst>
              <a:gd fmla="val 31250" name="adj"/>
            </a:avLst>
          </a:prstGeom>
          <a:solidFill>
            <a:srgbClr val="9FE1CB"/>
          </a:solidFill>
          <a:ln cap="flat" cmpd="sng" w="15875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6"/>
          <p:cNvSpPr/>
          <p:nvPr/>
        </p:nvSpPr>
        <p:spPr>
          <a:xfrm>
            <a:off x="3600450" y="2153412"/>
            <a:ext cx="1508760" cy="109728"/>
          </a:xfrm>
          <a:prstGeom prst="roundRect">
            <a:avLst>
              <a:gd fmla="val 31250" name="adj"/>
            </a:avLst>
          </a:prstGeom>
          <a:solidFill>
            <a:srgbClr val="D3D1C7"/>
          </a:solidFill>
          <a:ln cap="flat" cmpd="sng" w="9525">
            <a:solidFill>
              <a:srgbClr val="8887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6"/>
          <p:cNvSpPr/>
          <p:nvPr/>
        </p:nvSpPr>
        <p:spPr>
          <a:xfrm>
            <a:off x="3600450" y="2345436"/>
            <a:ext cx="1508760" cy="109728"/>
          </a:xfrm>
          <a:prstGeom prst="roundRect">
            <a:avLst>
              <a:gd fmla="val 31250" name="adj"/>
            </a:avLst>
          </a:prstGeom>
          <a:solidFill>
            <a:srgbClr val="D3D1C7"/>
          </a:solidFill>
          <a:ln cap="flat" cmpd="sng" w="9525">
            <a:solidFill>
              <a:srgbClr val="8887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6"/>
          <p:cNvSpPr/>
          <p:nvPr/>
        </p:nvSpPr>
        <p:spPr>
          <a:xfrm>
            <a:off x="3600450" y="2537460"/>
            <a:ext cx="1508760" cy="109728"/>
          </a:xfrm>
          <a:prstGeom prst="roundRect">
            <a:avLst>
              <a:gd fmla="val 31250" name="adj"/>
            </a:avLst>
          </a:prstGeom>
          <a:solidFill>
            <a:srgbClr val="D3D1C7"/>
          </a:solidFill>
          <a:ln cap="flat" cmpd="sng" w="9525">
            <a:solidFill>
              <a:srgbClr val="8887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6"/>
          <p:cNvSpPr/>
          <p:nvPr/>
        </p:nvSpPr>
        <p:spPr>
          <a:xfrm>
            <a:off x="3600450" y="2729484"/>
            <a:ext cx="1508760" cy="109728"/>
          </a:xfrm>
          <a:prstGeom prst="roundRect">
            <a:avLst>
              <a:gd fmla="val 31250" name="adj"/>
            </a:avLst>
          </a:prstGeom>
          <a:solidFill>
            <a:srgbClr val="D3D1C7"/>
          </a:solidFill>
          <a:ln cap="flat" cmpd="sng" w="9525">
            <a:solidFill>
              <a:srgbClr val="8887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6"/>
          <p:cNvSpPr/>
          <p:nvPr/>
        </p:nvSpPr>
        <p:spPr>
          <a:xfrm>
            <a:off x="5795010" y="2002536"/>
            <a:ext cx="480060" cy="1783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887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6"/>
          <p:cNvSpPr/>
          <p:nvPr/>
        </p:nvSpPr>
        <p:spPr>
          <a:xfrm>
            <a:off x="6309360" y="905256"/>
            <a:ext cx="24345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444441"/>
                </a:solidFill>
                <a:latin typeface="Calibri"/>
                <a:ea typeface="Calibri"/>
                <a:cs typeface="Calibri"/>
                <a:sym typeface="Calibri"/>
              </a:rPr>
              <a:t>3 · Spread test (keep what varies)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6"/>
          <p:cNvSpPr/>
          <p:nvPr/>
        </p:nvSpPr>
        <p:spPr>
          <a:xfrm>
            <a:off x="6309360" y="1165860"/>
            <a:ext cx="2434590" cy="1885950"/>
          </a:xfrm>
          <a:prstGeom prst="roundRect">
            <a:avLst>
              <a:gd fmla="val 2182" name="adj"/>
            </a:avLst>
          </a:prstGeom>
          <a:solidFill>
            <a:srgbClr val="D3D1C7">
              <a:alpha val="65098"/>
            </a:srgbClr>
          </a:solidFill>
          <a:ln cap="flat" cmpd="sng" w="12700">
            <a:solidFill>
              <a:srgbClr val="8887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6"/>
          <p:cNvSpPr/>
          <p:nvPr/>
        </p:nvSpPr>
        <p:spPr>
          <a:xfrm>
            <a:off x="6412230" y="1337310"/>
            <a:ext cx="22288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σ = spread across items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6"/>
          <p:cNvSpPr/>
          <p:nvPr/>
        </p:nvSpPr>
        <p:spPr>
          <a:xfrm>
            <a:off x="6549390" y="2057400"/>
            <a:ext cx="219456" cy="72009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6"/>
          <p:cNvSpPr/>
          <p:nvPr/>
        </p:nvSpPr>
        <p:spPr>
          <a:xfrm>
            <a:off x="6494526" y="2798064"/>
            <a:ext cx="32918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VL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6"/>
          <p:cNvSpPr/>
          <p:nvPr/>
        </p:nvSpPr>
        <p:spPr>
          <a:xfrm>
            <a:off x="6892290" y="2125980"/>
            <a:ext cx="219456" cy="65151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6"/>
          <p:cNvSpPr/>
          <p:nvPr/>
        </p:nvSpPr>
        <p:spPr>
          <a:xfrm>
            <a:off x="6837426" y="2798064"/>
            <a:ext cx="32918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MA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6"/>
          <p:cNvSpPr/>
          <p:nvPr/>
        </p:nvSpPr>
        <p:spPr>
          <a:xfrm>
            <a:off x="7235190" y="2173986"/>
            <a:ext cx="219456" cy="60350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6"/>
          <p:cNvSpPr/>
          <p:nvPr/>
        </p:nvSpPr>
        <p:spPr>
          <a:xfrm>
            <a:off x="7180326" y="2798064"/>
            <a:ext cx="32918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GS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6"/>
          <p:cNvSpPr/>
          <p:nvPr/>
        </p:nvSpPr>
        <p:spPr>
          <a:xfrm>
            <a:off x="7578090" y="2489454"/>
            <a:ext cx="219456" cy="288036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6"/>
          <p:cNvSpPr/>
          <p:nvPr/>
        </p:nvSpPr>
        <p:spPr>
          <a:xfrm>
            <a:off x="7523226" y="2798064"/>
            <a:ext cx="32918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6"/>
          <p:cNvSpPr/>
          <p:nvPr/>
        </p:nvSpPr>
        <p:spPr>
          <a:xfrm>
            <a:off x="7920990" y="2544318"/>
            <a:ext cx="219456" cy="233172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6"/>
          <p:cNvSpPr/>
          <p:nvPr/>
        </p:nvSpPr>
        <p:spPr>
          <a:xfrm>
            <a:off x="7866126" y="2798064"/>
            <a:ext cx="32918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claim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6"/>
          <p:cNvSpPr/>
          <p:nvPr/>
        </p:nvSpPr>
        <p:spPr>
          <a:xfrm>
            <a:off x="8263890" y="2599182"/>
            <a:ext cx="219456" cy="178308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6"/>
          <p:cNvSpPr/>
          <p:nvPr/>
        </p:nvSpPr>
        <p:spPr>
          <a:xfrm>
            <a:off x="8209026" y="2798064"/>
            <a:ext cx="32918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ling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6"/>
          <p:cNvSpPr/>
          <p:nvPr/>
        </p:nvSpPr>
        <p:spPr>
          <a:xfrm>
            <a:off x="6480810" y="2773375"/>
            <a:ext cx="2057400" cy="8230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6"/>
          <p:cNvSpPr/>
          <p:nvPr/>
        </p:nvSpPr>
        <p:spPr>
          <a:xfrm>
            <a:off x="644652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6"/>
          <p:cNvSpPr/>
          <p:nvPr/>
        </p:nvSpPr>
        <p:spPr>
          <a:xfrm>
            <a:off x="654939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6"/>
          <p:cNvSpPr/>
          <p:nvPr/>
        </p:nvSpPr>
        <p:spPr>
          <a:xfrm>
            <a:off x="665226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6"/>
          <p:cNvSpPr/>
          <p:nvPr/>
        </p:nvSpPr>
        <p:spPr>
          <a:xfrm>
            <a:off x="675513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6"/>
          <p:cNvSpPr/>
          <p:nvPr/>
        </p:nvSpPr>
        <p:spPr>
          <a:xfrm>
            <a:off x="685800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6"/>
          <p:cNvSpPr/>
          <p:nvPr/>
        </p:nvSpPr>
        <p:spPr>
          <a:xfrm>
            <a:off x="696087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6"/>
          <p:cNvSpPr/>
          <p:nvPr/>
        </p:nvSpPr>
        <p:spPr>
          <a:xfrm>
            <a:off x="706374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6"/>
          <p:cNvSpPr/>
          <p:nvPr/>
        </p:nvSpPr>
        <p:spPr>
          <a:xfrm>
            <a:off x="716661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6"/>
          <p:cNvSpPr/>
          <p:nvPr/>
        </p:nvSpPr>
        <p:spPr>
          <a:xfrm>
            <a:off x="726948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6"/>
          <p:cNvSpPr/>
          <p:nvPr/>
        </p:nvSpPr>
        <p:spPr>
          <a:xfrm>
            <a:off x="737235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6"/>
          <p:cNvSpPr/>
          <p:nvPr/>
        </p:nvSpPr>
        <p:spPr>
          <a:xfrm>
            <a:off x="747522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6"/>
          <p:cNvSpPr/>
          <p:nvPr/>
        </p:nvSpPr>
        <p:spPr>
          <a:xfrm>
            <a:off x="757809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6"/>
          <p:cNvSpPr/>
          <p:nvPr/>
        </p:nvSpPr>
        <p:spPr>
          <a:xfrm>
            <a:off x="768096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6"/>
          <p:cNvSpPr/>
          <p:nvPr/>
        </p:nvSpPr>
        <p:spPr>
          <a:xfrm>
            <a:off x="778383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6"/>
          <p:cNvSpPr/>
          <p:nvPr/>
        </p:nvSpPr>
        <p:spPr>
          <a:xfrm>
            <a:off x="788670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6"/>
          <p:cNvSpPr/>
          <p:nvPr/>
        </p:nvSpPr>
        <p:spPr>
          <a:xfrm>
            <a:off x="798957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6"/>
          <p:cNvSpPr/>
          <p:nvPr/>
        </p:nvSpPr>
        <p:spPr>
          <a:xfrm>
            <a:off x="809244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6"/>
          <p:cNvSpPr/>
          <p:nvPr/>
        </p:nvSpPr>
        <p:spPr>
          <a:xfrm>
            <a:off x="819531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6"/>
          <p:cNvSpPr/>
          <p:nvPr/>
        </p:nvSpPr>
        <p:spPr>
          <a:xfrm>
            <a:off x="829818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6"/>
          <p:cNvSpPr/>
          <p:nvPr/>
        </p:nvSpPr>
        <p:spPr>
          <a:xfrm>
            <a:off x="840105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6"/>
          <p:cNvSpPr/>
          <p:nvPr/>
        </p:nvSpPr>
        <p:spPr>
          <a:xfrm>
            <a:off x="8503920" y="2357780"/>
            <a:ext cx="61722" cy="16460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6"/>
          <p:cNvSpPr/>
          <p:nvPr/>
        </p:nvSpPr>
        <p:spPr>
          <a:xfrm>
            <a:off x="7578090" y="2187702"/>
            <a:ext cx="106299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600"/>
              <a:buFont typeface="Calibri"/>
              <a:buNone/>
            </a:pPr>
            <a:r>
              <a:rPr b="1" i="0" lang="en" sz="600" u="none" cap="none" strike="noStrik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keep threshold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6"/>
          <p:cNvSpPr/>
          <p:nvPr/>
        </p:nvSpPr>
        <p:spPr>
          <a:xfrm>
            <a:off x="4457700" y="3086100"/>
            <a:ext cx="205740" cy="30861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8887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6"/>
          <p:cNvSpPr/>
          <p:nvPr/>
        </p:nvSpPr>
        <p:spPr>
          <a:xfrm>
            <a:off x="342900" y="3429000"/>
            <a:ext cx="8503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4 · Su</a:t>
            </a:r>
            <a:r>
              <a:rPr b="1" i="0" lang="en" sz="10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rvivors</a:t>
            </a:r>
            <a:r>
              <a:rPr b="1" i="0" lang="en" sz="10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6"/>
          <p:cNvSpPr/>
          <p:nvPr/>
        </p:nvSpPr>
        <p:spPr>
          <a:xfrm>
            <a:off x="411480" y="3703320"/>
            <a:ext cx="2640330" cy="630936"/>
          </a:xfrm>
          <a:prstGeom prst="roundRect">
            <a:avLst>
              <a:gd fmla="val 6522" name="adj"/>
            </a:avLst>
          </a:prstGeom>
          <a:solidFill>
            <a:srgbClr val="9FE1CB"/>
          </a:solidFill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6"/>
          <p:cNvSpPr/>
          <p:nvPr/>
        </p:nvSpPr>
        <p:spPr>
          <a:xfrm>
            <a:off x="480060" y="3703320"/>
            <a:ext cx="250317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Visual localization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VL — find the right point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6"/>
          <p:cNvSpPr/>
          <p:nvPr/>
        </p:nvSpPr>
        <p:spPr>
          <a:xfrm>
            <a:off x="3250692" y="3703320"/>
            <a:ext cx="2640330" cy="630936"/>
          </a:xfrm>
          <a:prstGeom prst="roundRect">
            <a:avLst>
              <a:gd fmla="val 6522" name="adj"/>
            </a:avLst>
          </a:prstGeom>
          <a:solidFill>
            <a:srgbClr val="9FE1CB"/>
          </a:solidFill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6"/>
          <p:cNvSpPr/>
          <p:nvPr/>
        </p:nvSpPr>
        <p:spPr>
          <a:xfrm>
            <a:off x="3319272" y="3703320"/>
            <a:ext cx="250317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Multi-element aggregation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MA — combine multiple data points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6"/>
          <p:cNvSpPr/>
          <p:nvPr/>
        </p:nvSpPr>
        <p:spPr>
          <a:xfrm>
            <a:off x="6089904" y="3703320"/>
            <a:ext cx="2640330" cy="630936"/>
          </a:xfrm>
          <a:prstGeom prst="roundRect">
            <a:avLst>
              <a:gd fmla="val 6522" name="adj"/>
            </a:avLst>
          </a:prstGeom>
          <a:solidFill>
            <a:srgbClr val="9FE1CB"/>
          </a:solidFill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6"/>
          <p:cNvSpPr/>
          <p:nvPr/>
        </p:nvSpPr>
        <p:spPr>
          <a:xfrm>
            <a:off x="6158484" y="3703320"/>
            <a:ext cx="250317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Gestalt &amp; shape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GS — read trend / shape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6"/>
          <p:cNvSpPr/>
          <p:nvPr/>
        </p:nvSpPr>
        <p:spPr>
          <a:xfrm>
            <a:off x="342900" y="905256"/>
            <a:ext cx="24345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1 · Annotation (Fable/Opus)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6"/>
          <p:cNvSpPr/>
          <p:nvPr/>
        </p:nvSpPr>
        <p:spPr>
          <a:xfrm>
            <a:off x="342900" y="1165860"/>
            <a:ext cx="2434590" cy="1885950"/>
          </a:xfrm>
          <a:prstGeom prst="roundRect">
            <a:avLst>
              <a:gd fmla="val 2182" name="adj"/>
            </a:avLst>
          </a:prstGeom>
          <a:solidFill>
            <a:srgbClr val="D3D1C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6"/>
          <p:cNvSpPr/>
          <p:nvPr/>
        </p:nvSpPr>
        <p:spPr>
          <a:xfrm>
            <a:off x="411480" y="1207008"/>
            <a:ext cx="229743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90+ raw features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46"/>
          <p:cNvCxnSpPr/>
          <p:nvPr/>
        </p:nvCxnSpPr>
        <p:spPr>
          <a:xfrm>
            <a:off x="685800" y="1543050"/>
            <a:ext cx="0" cy="1165860"/>
          </a:xfrm>
          <a:prstGeom prst="straightConnector1">
            <a:avLst/>
          </a:prstGeom>
          <a:noFill/>
          <a:ln cap="flat" cmpd="sng" w="12700">
            <a:solidFill>
              <a:srgbClr val="8887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46"/>
          <p:cNvCxnSpPr/>
          <p:nvPr/>
        </p:nvCxnSpPr>
        <p:spPr>
          <a:xfrm>
            <a:off x="685800" y="2708910"/>
            <a:ext cx="1920240" cy="0"/>
          </a:xfrm>
          <a:prstGeom prst="straightConnector1">
            <a:avLst/>
          </a:prstGeom>
          <a:noFill/>
          <a:ln cap="flat" cmpd="sng" w="12700">
            <a:solidFill>
              <a:srgbClr val="8887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46"/>
          <p:cNvCxnSpPr/>
          <p:nvPr/>
        </p:nvCxnSpPr>
        <p:spPr>
          <a:xfrm flipH="1">
            <a:off x="685800" y="2655978"/>
            <a:ext cx="32546" cy="52932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46"/>
          <p:cNvCxnSpPr/>
          <p:nvPr/>
        </p:nvCxnSpPr>
        <p:spPr>
          <a:xfrm flipH="1">
            <a:off x="718346" y="2605841"/>
            <a:ext cx="32546" cy="50138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46"/>
          <p:cNvCxnSpPr/>
          <p:nvPr/>
        </p:nvCxnSpPr>
        <p:spPr>
          <a:xfrm flipH="1">
            <a:off x="750893" y="2558350"/>
            <a:ext cx="32546" cy="4749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46"/>
          <p:cNvCxnSpPr/>
          <p:nvPr/>
        </p:nvCxnSpPr>
        <p:spPr>
          <a:xfrm flipH="1">
            <a:off x="783440" y="2513366"/>
            <a:ext cx="32546" cy="44983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46"/>
          <p:cNvCxnSpPr/>
          <p:nvPr/>
        </p:nvCxnSpPr>
        <p:spPr>
          <a:xfrm flipH="1">
            <a:off x="815986" y="2470757"/>
            <a:ext cx="32546" cy="42609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46"/>
          <p:cNvCxnSpPr/>
          <p:nvPr/>
        </p:nvCxnSpPr>
        <p:spPr>
          <a:xfrm flipH="1">
            <a:off x="848532" y="2430398"/>
            <a:ext cx="32546" cy="40359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46"/>
          <p:cNvCxnSpPr/>
          <p:nvPr/>
        </p:nvCxnSpPr>
        <p:spPr>
          <a:xfrm flipH="1">
            <a:off x="881079" y="2392169"/>
            <a:ext cx="32546" cy="38229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46"/>
          <p:cNvCxnSpPr/>
          <p:nvPr/>
        </p:nvCxnSpPr>
        <p:spPr>
          <a:xfrm flipH="1">
            <a:off x="913625" y="2355959"/>
            <a:ext cx="32546" cy="3621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46"/>
          <p:cNvCxnSpPr/>
          <p:nvPr/>
        </p:nvCxnSpPr>
        <p:spPr>
          <a:xfrm flipH="1">
            <a:off x="946172" y="2321660"/>
            <a:ext cx="32546" cy="34299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46"/>
          <p:cNvCxnSpPr/>
          <p:nvPr/>
        </p:nvCxnSpPr>
        <p:spPr>
          <a:xfrm flipH="1">
            <a:off x="978718" y="2289172"/>
            <a:ext cx="32546" cy="32488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46"/>
          <p:cNvCxnSpPr/>
          <p:nvPr/>
        </p:nvCxnSpPr>
        <p:spPr>
          <a:xfrm flipH="1">
            <a:off x="1011265" y="2258399"/>
            <a:ext cx="32546" cy="30773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46"/>
          <p:cNvCxnSpPr/>
          <p:nvPr/>
        </p:nvCxnSpPr>
        <p:spPr>
          <a:xfrm flipH="1">
            <a:off x="1043811" y="2229251"/>
            <a:ext cx="32546" cy="29148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46"/>
          <p:cNvCxnSpPr/>
          <p:nvPr/>
        </p:nvCxnSpPr>
        <p:spPr>
          <a:xfrm flipH="1">
            <a:off x="1076357" y="2201642"/>
            <a:ext cx="32546" cy="27610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46"/>
          <p:cNvCxnSpPr/>
          <p:nvPr/>
        </p:nvCxnSpPr>
        <p:spPr>
          <a:xfrm flipH="1">
            <a:off x="1108904" y="2175489"/>
            <a:ext cx="32546" cy="26152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46"/>
          <p:cNvCxnSpPr/>
          <p:nvPr/>
        </p:nvCxnSpPr>
        <p:spPr>
          <a:xfrm flipH="1">
            <a:off x="1141451" y="2150718"/>
            <a:ext cx="32546" cy="2477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46"/>
          <p:cNvCxnSpPr/>
          <p:nvPr/>
        </p:nvCxnSpPr>
        <p:spPr>
          <a:xfrm flipH="1">
            <a:off x="1173997" y="2127254"/>
            <a:ext cx="32546" cy="23464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46"/>
          <p:cNvCxnSpPr/>
          <p:nvPr/>
        </p:nvCxnSpPr>
        <p:spPr>
          <a:xfrm flipH="1">
            <a:off x="1206543" y="2105030"/>
            <a:ext cx="32546" cy="22225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46"/>
          <p:cNvCxnSpPr/>
          <p:nvPr/>
        </p:nvCxnSpPr>
        <p:spPr>
          <a:xfrm flipH="1">
            <a:off x="1239089" y="2083978"/>
            <a:ext cx="32546" cy="21052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46"/>
          <p:cNvCxnSpPr/>
          <p:nvPr/>
        </p:nvCxnSpPr>
        <p:spPr>
          <a:xfrm flipH="1">
            <a:off x="1271636" y="2064038"/>
            <a:ext cx="32546" cy="19940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46"/>
          <p:cNvCxnSpPr/>
          <p:nvPr/>
        </p:nvCxnSpPr>
        <p:spPr>
          <a:xfrm flipH="1">
            <a:off x="1304182" y="2045150"/>
            <a:ext cx="32546" cy="18887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46"/>
          <p:cNvCxnSpPr/>
          <p:nvPr/>
        </p:nvCxnSpPr>
        <p:spPr>
          <a:xfrm flipH="1">
            <a:off x="1336729" y="2027260"/>
            <a:ext cx="32546" cy="17890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46"/>
          <p:cNvCxnSpPr/>
          <p:nvPr/>
        </p:nvCxnSpPr>
        <p:spPr>
          <a:xfrm flipH="1">
            <a:off x="1369275" y="2010314"/>
            <a:ext cx="32546" cy="16946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46"/>
          <p:cNvCxnSpPr/>
          <p:nvPr/>
        </p:nvCxnSpPr>
        <p:spPr>
          <a:xfrm flipH="1">
            <a:off x="1401822" y="1994263"/>
            <a:ext cx="32546" cy="1605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46"/>
          <p:cNvCxnSpPr/>
          <p:nvPr/>
        </p:nvCxnSpPr>
        <p:spPr>
          <a:xfrm flipH="1">
            <a:off x="1434368" y="1979059"/>
            <a:ext cx="32546" cy="15204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46"/>
          <p:cNvCxnSpPr/>
          <p:nvPr/>
        </p:nvCxnSpPr>
        <p:spPr>
          <a:xfrm flipH="1">
            <a:off x="1466915" y="1964657"/>
            <a:ext cx="32546" cy="1440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46"/>
          <p:cNvCxnSpPr/>
          <p:nvPr/>
        </p:nvCxnSpPr>
        <p:spPr>
          <a:xfrm flipH="1">
            <a:off x="1499461" y="1951017"/>
            <a:ext cx="32546" cy="1364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46"/>
          <p:cNvCxnSpPr/>
          <p:nvPr/>
        </p:nvCxnSpPr>
        <p:spPr>
          <a:xfrm flipH="1">
            <a:off x="1532008" y="1938096"/>
            <a:ext cx="32546" cy="1292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46"/>
          <p:cNvCxnSpPr/>
          <p:nvPr/>
        </p:nvCxnSpPr>
        <p:spPr>
          <a:xfrm flipH="1">
            <a:off x="1564554" y="1925857"/>
            <a:ext cx="32546" cy="12238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46"/>
          <p:cNvCxnSpPr/>
          <p:nvPr/>
        </p:nvCxnSpPr>
        <p:spPr>
          <a:xfrm flipH="1">
            <a:off x="1597100" y="1914265"/>
            <a:ext cx="32546" cy="11593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46"/>
          <p:cNvCxnSpPr/>
          <p:nvPr/>
        </p:nvCxnSpPr>
        <p:spPr>
          <a:xfrm flipH="1">
            <a:off x="1629646" y="1903284"/>
            <a:ext cx="32546" cy="1098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46"/>
          <p:cNvCxnSpPr/>
          <p:nvPr/>
        </p:nvCxnSpPr>
        <p:spPr>
          <a:xfrm flipH="1">
            <a:off x="1662194" y="1892883"/>
            <a:ext cx="32546" cy="1040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46"/>
          <p:cNvCxnSpPr/>
          <p:nvPr/>
        </p:nvCxnSpPr>
        <p:spPr>
          <a:xfrm flipH="1">
            <a:off x="1694740" y="1883031"/>
            <a:ext cx="32546" cy="9852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46"/>
          <p:cNvCxnSpPr/>
          <p:nvPr/>
        </p:nvCxnSpPr>
        <p:spPr>
          <a:xfrm flipH="1">
            <a:off x="1727286" y="1873700"/>
            <a:ext cx="32546" cy="933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46"/>
          <p:cNvCxnSpPr/>
          <p:nvPr/>
        </p:nvCxnSpPr>
        <p:spPr>
          <a:xfrm flipH="1">
            <a:off x="1759832" y="1864861"/>
            <a:ext cx="32546" cy="8839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46"/>
          <p:cNvCxnSpPr/>
          <p:nvPr/>
        </p:nvCxnSpPr>
        <p:spPr>
          <a:xfrm flipH="1">
            <a:off x="1792379" y="1856489"/>
            <a:ext cx="32546" cy="8372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46"/>
          <p:cNvCxnSpPr/>
          <p:nvPr/>
        </p:nvCxnSpPr>
        <p:spPr>
          <a:xfrm flipH="1">
            <a:off x="1824925" y="1848558"/>
            <a:ext cx="32546" cy="793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46"/>
          <p:cNvCxnSpPr/>
          <p:nvPr/>
        </p:nvCxnSpPr>
        <p:spPr>
          <a:xfrm flipH="1">
            <a:off x="1857472" y="1841046"/>
            <a:ext cx="32546" cy="7512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46"/>
          <p:cNvCxnSpPr/>
          <p:nvPr/>
        </p:nvCxnSpPr>
        <p:spPr>
          <a:xfrm flipH="1">
            <a:off x="1890018" y="1833931"/>
            <a:ext cx="32546" cy="7115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46"/>
          <p:cNvCxnSpPr/>
          <p:nvPr/>
        </p:nvCxnSpPr>
        <p:spPr>
          <a:xfrm flipH="1">
            <a:off x="1922565" y="1827191"/>
            <a:ext cx="32546" cy="6740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46"/>
          <p:cNvCxnSpPr/>
          <p:nvPr/>
        </p:nvCxnSpPr>
        <p:spPr>
          <a:xfrm flipH="1">
            <a:off x="1955111" y="1820807"/>
            <a:ext cx="32546" cy="6384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46"/>
          <p:cNvCxnSpPr/>
          <p:nvPr/>
        </p:nvCxnSpPr>
        <p:spPr>
          <a:xfrm flipH="1">
            <a:off x="1987657" y="1814761"/>
            <a:ext cx="32546" cy="6047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46"/>
          <p:cNvCxnSpPr/>
          <p:nvPr/>
        </p:nvCxnSpPr>
        <p:spPr>
          <a:xfrm flipH="1">
            <a:off x="2020204" y="1809034"/>
            <a:ext cx="32546" cy="5728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46"/>
          <p:cNvCxnSpPr/>
          <p:nvPr/>
        </p:nvCxnSpPr>
        <p:spPr>
          <a:xfrm flipH="1">
            <a:off x="2052751" y="1803608"/>
            <a:ext cx="32546" cy="5426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46"/>
          <p:cNvCxnSpPr/>
          <p:nvPr/>
        </p:nvCxnSpPr>
        <p:spPr>
          <a:xfrm flipH="1">
            <a:off x="2085297" y="1798469"/>
            <a:ext cx="32546" cy="5139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46"/>
          <p:cNvCxnSpPr/>
          <p:nvPr/>
        </p:nvCxnSpPr>
        <p:spPr>
          <a:xfrm flipH="1">
            <a:off x="2117843" y="1793602"/>
            <a:ext cx="32546" cy="4867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46"/>
          <p:cNvCxnSpPr/>
          <p:nvPr/>
        </p:nvCxnSpPr>
        <p:spPr>
          <a:xfrm flipH="1">
            <a:off x="2150390" y="1788992"/>
            <a:ext cx="32546" cy="4610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46"/>
          <p:cNvCxnSpPr/>
          <p:nvPr/>
        </p:nvCxnSpPr>
        <p:spPr>
          <a:xfrm flipH="1">
            <a:off x="2182937" y="1784624"/>
            <a:ext cx="32546" cy="4367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46"/>
          <p:cNvCxnSpPr/>
          <p:nvPr/>
        </p:nvCxnSpPr>
        <p:spPr>
          <a:xfrm flipH="1">
            <a:off x="2215483" y="1780488"/>
            <a:ext cx="32546" cy="4136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46"/>
          <p:cNvCxnSpPr/>
          <p:nvPr/>
        </p:nvCxnSpPr>
        <p:spPr>
          <a:xfrm flipH="1">
            <a:off x="2248029" y="1776570"/>
            <a:ext cx="32546" cy="3918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46"/>
          <p:cNvCxnSpPr/>
          <p:nvPr/>
        </p:nvCxnSpPr>
        <p:spPr>
          <a:xfrm flipH="1">
            <a:off x="2280575" y="1772858"/>
            <a:ext cx="32546" cy="371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46"/>
          <p:cNvCxnSpPr/>
          <p:nvPr/>
        </p:nvCxnSpPr>
        <p:spPr>
          <a:xfrm flipH="1">
            <a:off x="2313122" y="1769343"/>
            <a:ext cx="32546" cy="3515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46"/>
          <p:cNvCxnSpPr/>
          <p:nvPr/>
        </p:nvCxnSpPr>
        <p:spPr>
          <a:xfrm flipH="1">
            <a:off x="2345669" y="1766014"/>
            <a:ext cx="32546" cy="3330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46"/>
          <p:cNvCxnSpPr/>
          <p:nvPr/>
        </p:nvCxnSpPr>
        <p:spPr>
          <a:xfrm flipH="1">
            <a:off x="2378215" y="1762859"/>
            <a:ext cx="32546" cy="3154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46"/>
          <p:cNvCxnSpPr/>
          <p:nvPr/>
        </p:nvCxnSpPr>
        <p:spPr>
          <a:xfrm flipH="1">
            <a:off x="2410761" y="1759872"/>
            <a:ext cx="32546" cy="2987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46"/>
          <p:cNvCxnSpPr/>
          <p:nvPr/>
        </p:nvCxnSpPr>
        <p:spPr>
          <a:xfrm flipH="1">
            <a:off x="2443308" y="1757042"/>
            <a:ext cx="32546" cy="2830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46"/>
          <p:cNvCxnSpPr/>
          <p:nvPr/>
        </p:nvCxnSpPr>
        <p:spPr>
          <a:xfrm flipH="1">
            <a:off x="2475854" y="1754362"/>
            <a:ext cx="32546" cy="2681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46"/>
          <p:cNvCxnSpPr/>
          <p:nvPr/>
        </p:nvCxnSpPr>
        <p:spPr>
          <a:xfrm flipH="1">
            <a:off x="2508400" y="1751823"/>
            <a:ext cx="32546" cy="2539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46"/>
          <p:cNvCxnSpPr/>
          <p:nvPr/>
        </p:nvCxnSpPr>
        <p:spPr>
          <a:xfrm flipH="1">
            <a:off x="2540947" y="1749418"/>
            <a:ext cx="32546" cy="2404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46"/>
          <p:cNvCxnSpPr/>
          <p:nvPr/>
        </p:nvCxnSpPr>
        <p:spPr>
          <a:xfrm flipH="1">
            <a:off x="2573494" y="1747140"/>
            <a:ext cx="32546" cy="2278"/>
          </a:xfrm>
          <a:prstGeom prst="straightConnector1">
            <a:avLst/>
          </a:prstGeom>
          <a:noFill/>
          <a:ln cap="flat" cmpd="sng" w="3175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46"/>
          <p:cNvSpPr/>
          <p:nvPr/>
        </p:nvSpPr>
        <p:spPr>
          <a:xfrm>
            <a:off x="724891" y="2550727"/>
            <a:ext cx="75438" cy="75438"/>
          </a:xfrm>
          <a:prstGeom prst="ellipse">
            <a:avLst/>
          </a:prstGeom>
          <a:solidFill>
            <a:srgbClr val="1D9E7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6"/>
          <p:cNvSpPr/>
          <p:nvPr/>
        </p:nvSpPr>
        <p:spPr>
          <a:xfrm>
            <a:off x="840105" y="2396618"/>
            <a:ext cx="75438" cy="75438"/>
          </a:xfrm>
          <a:prstGeom prst="ellipse">
            <a:avLst/>
          </a:prstGeom>
          <a:solidFill>
            <a:srgbClr val="1D9E7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6"/>
          <p:cNvSpPr/>
          <p:nvPr/>
        </p:nvSpPr>
        <p:spPr>
          <a:xfrm>
            <a:off x="974522" y="2250506"/>
            <a:ext cx="75438" cy="75438"/>
          </a:xfrm>
          <a:prstGeom prst="ellipse">
            <a:avLst/>
          </a:prstGeom>
          <a:solidFill>
            <a:srgbClr val="1D9E7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6"/>
          <p:cNvSpPr/>
          <p:nvPr/>
        </p:nvSpPr>
        <p:spPr>
          <a:xfrm>
            <a:off x="1128141" y="2119067"/>
            <a:ext cx="75438" cy="75438"/>
          </a:xfrm>
          <a:prstGeom prst="ellipse">
            <a:avLst/>
          </a:prstGeom>
          <a:solidFill>
            <a:srgbClr val="1D9E7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6"/>
          <p:cNvSpPr/>
          <p:nvPr/>
        </p:nvSpPr>
        <p:spPr>
          <a:xfrm>
            <a:off x="1300963" y="2006330"/>
            <a:ext cx="75438" cy="75438"/>
          </a:xfrm>
          <a:prstGeom prst="ellipse">
            <a:avLst/>
          </a:prstGeom>
          <a:solidFill>
            <a:srgbClr val="1D9E7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6"/>
          <p:cNvSpPr/>
          <p:nvPr/>
        </p:nvSpPr>
        <p:spPr>
          <a:xfrm>
            <a:off x="1512189" y="1906105"/>
            <a:ext cx="75438" cy="75438"/>
          </a:xfrm>
          <a:prstGeom prst="ellipse">
            <a:avLst/>
          </a:prstGeom>
          <a:solidFill>
            <a:srgbClr val="1D9E7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6"/>
          <p:cNvSpPr/>
          <p:nvPr/>
        </p:nvSpPr>
        <p:spPr>
          <a:xfrm>
            <a:off x="1761820" y="1825261"/>
            <a:ext cx="75438" cy="75438"/>
          </a:xfrm>
          <a:prstGeom prst="ellipse">
            <a:avLst/>
          </a:prstGeom>
          <a:solidFill>
            <a:srgbClr val="1D9E7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6"/>
          <p:cNvSpPr/>
          <p:nvPr/>
        </p:nvSpPr>
        <p:spPr>
          <a:xfrm>
            <a:off x="2069059" y="1762466"/>
            <a:ext cx="75438" cy="75438"/>
          </a:xfrm>
          <a:prstGeom prst="ellipse">
            <a:avLst/>
          </a:prstGeom>
          <a:solidFill>
            <a:srgbClr val="1D9E7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6"/>
          <p:cNvSpPr/>
          <p:nvPr/>
        </p:nvSpPr>
        <p:spPr>
          <a:xfrm>
            <a:off x="2414702" y="1721345"/>
            <a:ext cx="75438" cy="75438"/>
          </a:xfrm>
          <a:prstGeom prst="ellipse">
            <a:avLst/>
          </a:prstGeom>
          <a:solidFill>
            <a:srgbClr val="1D9E7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6"/>
          <p:cNvSpPr/>
          <p:nvPr/>
        </p:nvSpPr>
        <p:spPr>
          <a:xfrm>
            <a:off x="685800" y="2722626"/>
            <a:ext cx="192024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items annotated →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6"/>
          <p:cNvSpPr/>
          <p:nvPr/>
        </p:nvSpPr>
        <p:spPr>
          <a:xfrm rot="-5400000">
            <a:off x="24914" y="2071116"/>
            <a:ext cx="1165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cumulative unique features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6"/>
          <p:cNvSpPr/>
          <p:nvPr/>
        </p:nvSpPr>
        <p:spPr>
          <a:xfrm>
            <a:off x="1453896" y="1515618"/>
            <a:ext cx="119054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new features taper off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"/>
          <p:cNvSpPr/>
          <p:nvPr/>
        </p:nvSpPr>
        <p:spPr>
          <a:xfrm>
            <a:off x="0" y="0"/>
            <a:ext cx="9143771" cy="75438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7"/>
          <p:cNvSpPr txBox="1"/>
          <p:nvPr/>
        </p:nvSpPr>
        <p:spPr>
          <a:xfrm>
            <a:off x="308610" y="125449"/>
            <a:ext cx="8503920" cy="530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CFDBEC"/>
                </a:solidFill>
                <a:latin typeface="Calibri"/>
                <a:ea typeface="Calibri"/>
                <a:cs typeface="Calibri"/>
                <a:sym typeface="Calibri"/>
              </a:rPr>
              <a:t>EMERGENT DIMENSIONS · VL WORKED EXAMPLE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Rubric Summary:</a:t>
            </a:r>
            <a:r>
              <a:rPr b="0" i="0" lang="en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Visual Localization (VL)</a:t>
            </a:r>
            <a:r>
              <a:rPr b="1" i="0" lang="e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7"/>
          <p:cNvSpPr/>
          <p:nvPr/>
        </p:nvSpPr>
        <p:spPr>
          <a:xfrm>
            <a:off x="680334" y="1293578"/>
            <a:ext cx="1748790" cy="493776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0  None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7"/>
          <p:cNvSpPr txBox="1"/>
          <p:nvPr/>
        </p:nvSpPr>
        <p:spPr>
          <a:xfrm>
            <a:off x="2531994" y="1420080"/>
            <a:ext cx="6515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Target is the only element and in view.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7"/>
          <p:cNvSpPr/>
          <p:nvPr/>
        </p:nvSpPr>
        <p:spPr>
          <a:xfrm>
            <a:off x="680334" y="1814786"/>
            <a:ext cx="1748790" cy="493776"/>
          </a:xfrm>
          <a:prstGeom prst="rect">
            <a:avLst/>
          </a:prstGeom>
          <a:solidFill>
            <a:srgbClr val="D9CEE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  Very low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7"/>
          <p:cNvSpPr txBox="1"/>
          <p:nvPr/>
        </p:nvSpPr>
        <p:spPr>
          <a:xfrm>
            <a:off x="2531994" y="1946257"/>
            <a:ext cx="6515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Single salient target; set apart by a clear label or unique position.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7"/>
          <p:cNvSpPr/>
          <p:nvPr/>
        </p:nvSpPr>
        <p:spPr>
          <a:xfrm>
            <a:off x="680334" y="2335994"/>
            <a:ext cx="1748790" cy="493776"/>
          </a:xfrm>
          <a:prstGeom prst="rect">
            <a:avLst/>
          </a:prstGeom>
          <a:solidFill>
            <a:srgbClr val="C6B5E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2  Low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7"/>
          <p:cNvSpPr txBox="1"/>
          <p:nvPr/>
        </p:nvSpPr>
        <p:spPr>
          <a:xfrm>
            <a:off x="2531994" y="2467466"/>
            <a:ext cx="6515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Several like candidates; selected by reading a printed distinguisher (panel title, legend, header).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7"/>
          <p:cNvSpPr/>
          <p:nvPr/>
        </p:nvSpPr>
        <p:spPr>
          <a:xfrm>
            <a:off x="680334" y="2857202"/>
            <a:ext cx="1748790" cy="493776"/>
          </a:xfrm>
          <a:prstGeom prst="rect">
            <a:avLst/>
          </a:prstGeom>
          <a:solidFill>
            <a:srgbClr val="B39DD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3  Intermediate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7"/>
          <p:cNvSpPr txBox="1"/>
          <p:nvPr/>
        </p:nvSpPr>
        <p:spPr>
          <a:xfrm>
            <a:off x="2531994" y="2988674"/>
            <a:ext cx="6515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Many like candidates read one-by-one, or a region cued by a drawn guide (gridline, quadrant).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7"/>
          <p:cNvSpPr/>
          <p:nvPr/>
        </p:nvSpPr>
        <p:spPr>
          <a:xfrm>
            <a:off x="680334" y="3378410"/>
            <a:ext cx="1748790" cy="493776"/>
          </a:xfrm>
          <a:prstGeom prst="rect">
            <a:avLst/>
          </a:prstGeom>
          <a:solidFill>
            <a:srgbClr val="9B7FD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 High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7"/>
          <p:cNvSpPr txBox="1"/>
          <p:nvPr/>
        </p:nvSpPr>
        <p:spPr>
          <a:xfrm>
            <a:off x="2531994" y="3482450"/>
            <a:ext cx="6515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 semantic region the figure never names.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680334" y="3899618"/>
            <a:ext cx="1748790" cy="493776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5+ Very high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7"/>
          <p:cNvSpPr txBox="1"/>
          <p:nvPr/>
        </p:nvSpPr>
        <p:spPr>
          <a:xfrm>
            <a:off x="2531994" y="4003658"/>
            <a:ext cx="6515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Exhaustive search, no cue; entity has no label and is found via an inferred external property.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8"/>
          <p:cNvSpPr/>
          <p:nvPr/>
        </p:nvSpPr>
        <p:spPr>
          <a:xfrm>
            <a:off x="0" y="0"/>
            <a:ext cx="9143771" cy="65151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8"/>
          <p:cNvSpPr txBox="1"/>
          <p:nvPr/>
        </p:nvSpPr>
        <p:spPr>
          <a:xfrm>
            <a:off x="274325" y="167600"/>
            <a:ext cx="4591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◆ Visual Localization  —  low vs high demand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8"/>
          <p:cNvSpPr/>
          <p:nvPr/>
        </p:nvSpPr>
        <p:spPr>
          <a:xfrm>
            <a:off x="169959" y="1537981"/>
            <a:ext cx="4217670" cy="3429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demand   ·   VL = 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081.jpg" id="541" name="Google Shape;54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44" y="1990610"/>
            <a:ext cx="2718720" cy="2023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xiv_val_1081_strip.png" id="542" name="Google Shape;54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7449" y="2016950"/>
            <a:ext cx="1440180" cy="1963571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8"/>
          <p:cNvSpPr/>
          <p:nvPr/>
        </p:nvSpPr>
        <p:spPr>
          <a:xfrm>
            <a:off x="4547649" y="1540765"/>
            <a:ext cx="4217670" cy="342900"/>
          </a:xfrm>
          <a:prstGeom prst="roundRect">
            <a:avLst>
              <a:gd fmla="val 16667" name="adj"/>
            </a:avLst>
          </a:prstGeom>
          <a:solidFill>
            <a:srgbClr val="2E86A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demand   ·   VL = 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298.jpg" id="544" name="Google Shape;544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7649" y="2307863"/>
            <a:ext cx="2777490" cy="1394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xiv_val_1298_strip.png" id="545" name="Google Shape;545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25139" y="2019734"/>
            <a:ext cx="1440180" cy="196357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8"/>
          <p:cNvSpPr txBox="1"/>
          <p:nvPr/>
        </p:nvSpPr>
        <p:spPr>
          <a:xfrm>
            <a:off x="342900" y="874650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Q:  How many dimensions are shown in this plot?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8"/>
          <p:cNvSpPr txBox="1"/>
          <p:nvPr/>
        </p:nvSpPr>
        <p:spPr>
          <a:xfrm>
            <a:off x="4547649" y="683066"/>
            <a:ext cx="4572000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Q:  What is the x-axis label of the chart where its corresponding subplot has less area with intensity &gt;4.5 when the meV is between 6 and 10?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8"/>
          <p:cNvSpPr txBox="1"/>
          <p:nvPr/>
        </p:nvSpPr>
        <p:spPr>
          <a:xfrm>
            <a:off x="464175" y="4272326"/>
            <a:ext cx="4591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Answer:  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298.jpg" id="549" name="Google Shape;549;p48"/>
          <p:cNvPicPr preferRelativeResize="0"/>
          <p:nvPr/>
        </p:nvPicPr>
        <p:blipFill rotWithShape="1">
          <a:blip r:embed="rId5">
            <a:alphaModFix/>
          </a:blip>
          <a:srcRect b="7178" l="18555" r="60274" t="78316"/>
          <a:stretch/>
        </p:blipFill>
        <p:spPr>
          <a:xfrm>
            <a:off x="5470949" y="4204440"/>
            <a:ext cx="1267241" cy="435824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8"/>
          <p:cNvSpPr txBox="1"/>
          <p:nvPr/>
        </p:nvSpPr>
        <p:spPr>
          <a:xfrm>
            <a:off x="4688027" y="4272323"/>
            <a:ext cx="4591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9"/>
          <p:cNvSpPr/>
          <p:nvPr/>
        </p:nvSpPr>
        <p:spPr>
          <a:xfrm>
            <a:off x="0" y="0"/>
            <a:ext cx="9143771" cy="7543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9"/>
          <p:cNvSpPr txBox="1"/>
          <p:nvPr/>
        </p:nvSpPr>
        <p:spPr>
          <a:xfrm>
            <a:off x="308610" y="194699"/>
            <a:ext cx="8503920" cy="39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 model ability rad</a:t>
            </a: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ars (AUC-ability)</a:t>
            </a:r>
            <a:endParaRPr b="1" i="0" sz="2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8" name="Google Shape;558;p49"/>
          <p:cNvPicPr preferRelativeResize="0"/>
          <p:nvPr/>
        </p:nvPicPr>
        <p:blipFill rotWithShape="1">
          <a:blip r:embed="rId3">
            <a:alphaModFix/>
          </a:blip>
          <a:srcRect b="0" l="24976" r="25073" t="7418"/>
          <a:stretch/>
        </p:blipFill>
        <p:spPr>
          <a:xfrm>
            <a:off x="988435" y="1241089"/>
            <a:ext cx="4567531" cy="2788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9"/>
          <p:cNvPicPr preferRelativeResize="0"/>
          <p:nvPr/>
        </p:nvPicPr>
        <p:blipFill rotWithShape="1">
          <a:blip r:embed="rId3">
            <a:alphaModFix/>
          </a:blip>
          <a:srcRect b="0" l="74927" r="0" t="7418"/>
          <a:stretch/>
        </p:blipFill>
        <p:spPr>
          <a:xfrm>
            <a:off x="5555966" y="1241089"/>
            <a:ext cx="2292702" cy="2788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0"/>
          <p:cNvSpPr/>
          <p:nvPr/>
        </p:nvSpPr>
        <p:spPr>
          <a:xfrm>
            <a:off x="0" y="0"/>
            <a:ext cx="9143700" cy="754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0"/>
          <p:cNvSpPr txBox="1"/>
          <p:nvPr/>
        </p:nvSpPr>
        <p:spPr>
          <a:xfrm>
            <a:off x="319960" y="181046"/>
            <a:ext cx="850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KPIs and feature selection</a:t>
            </a:r>
            <a:endParaRPr sz="1100"/>
          </a:p>
        </p:txBody>
      </p:sp>
      <p:sp>
        <p:nvSpPr>
          <p:cNvPr id="567" name="Google Shape;567;p50"/>
          <p:cNvSpPr txBox="1"/>
          <p:nvPr/>
        </p:nvSpPr>
        <p:spPr>
          <a:xfrm>
            <a:off x="372150" y="884275"/>
            <a:ext cx="83994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KPIs: ROC-AUC (primary, threshold invariant); balanced accuracy and F1 (secondary, threshold dependent)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 (publication year, subject, etc.) serves as weak input baseline for classifiers; dropped as input features for final model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Twelve demand features substantially increase model performance; one (CL–conceptualization, learning, and abstraction) dropped for having mostly zero values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8" name="Google Shape;568;p50"/>
          <p:cNvGraphicFramePr/>
          <p:nvPr/>
        </p:nvGraphicFramePr>
        <p:xfrm>
          <a:off x="952350" y="280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{DC48D2EB-F2AD-427D-9B3C-27DB9DF29B75}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Input </a:t>
                      </a:r>
                      <a:r>
                        <a:rPr b="1" lang="en"/>
                        <a:t>features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ROC-AUC (GPT-4o classifier)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ROC-AUC (Sonnet 3.5 classifier)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Metadata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Demand dims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Metadata + demand dims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1"/>
          <p:cNvSpPr/>
          <p:nvPr/>
        </p:nvSpPr>
        <p:spPr>
          <a:xfrm>
            <a:off x="0" y="0"/>
            <a:ext cx="9143700" cy="754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1"/>
          <p:cNvSpPr txBox="1"/>
          <p:nvPr/>
        </p:nvSpPr>
        <p:spPr>
          <a:xfrm>
            <a:off x="319960" y="181046"/>
            <a:ext cx="850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Modeling journey and cross-validation performance</a:t>
            </a:r>
            <a:endParaRPr sz="1100"/>
          </a:p>
        </p:txBody>
      </p:sp>
      <p:sp>
        <p:nvSpPr>
          <p:cNvPr id="576" name="Google Shape;576;p51"/>
          <p:cNvSpPr txBox="1"/>
          <p:nvPr/>
        </p:nvSpPr>
        <p:spPr>
          <a:xfrm>
            <a:off x="372150" y="884275"/>
            <a:ext cx="83994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Fitted and tuned logistic, random forest, histogram gradient boosting, and XGBoost classifiers. Evaluated using CV on original training set and 30 bootstrap resamples.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 was chosen as the final model since more complicated models provided no clear performance boost.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7" name="Google Shape;577;p51" title="roc_curve_oo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1800" y="2022237"/>
            <a:ext cx="3431901" cy="2859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8" name="Google Shape;578;p51"/>
          <p:cNvGraphicFramePr/>
          <p:nvPr/>
        </p:nvGraphicFramePr>
        <p:xfrm>
          <a:off x="47525" y="244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{DC48D2EB-F2AD-427D-9B3C-27DB9DF29B75}</a:tableStyleId>
              </a:tblPr>
              <a:tblGrid>
                <a:gridCol w="1427950"/>
                <a:gridCol w="1427950"/>
                <a:gridCol w="1427950"/>
                <a:gridCol w="1427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Target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ROC-AUC (CV)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Balanced accuracy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F1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GPT-4o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Sonnet 3.5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GPT-4o random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2"/>
          <p:cNvSpPr/>
          <p:nvPr/>
        </p:nvSpPr>
        <p:spPr>
          <a:xfrm>
            <a:off x="0" y="0"/>
            <a:ext cx="9143700" cy="754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52"/>
          <p:cNvSpPr txBox="1"/>
          <p:nvPr/>
        </p:nvSpPr>
        <p:spPr>
          <a:xfrm>
            <a:off x="319960" y="181046"/>
            <a:ext cx="850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drivers</a:t>
            </a:r>
            <a:endParaRPr sz="1100"/>
          </a:p>
        </p:txBody>
      </p:sp>
      <p:sp>
        <p:nvSpPr>
          <p:cNvPr id="586" name="Google Shape;586;p52"/>
          <p:cNvSpPr txBox="1"/>
          <p:nvPr/>
        </p:nvSpPr>
        <p:spPr>
          <a:xfrm>
            <a:off x="346050" y="4028475"/>
            <a:ext cx="8451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MCu (calibrating knowns and unknowns), AS (attention and scan), QLq (quantitative reasoning, and GS (gestalt and shape judgement) are the most informative demand dimensions for our models.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7" name="Google Shape;587;p52" title="permutation_import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587" y="933975"/>
            <a:ext cx="7426817" cy="3094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3"/>
          <p:cNvSpPr/>
          <p:nvPr/>
        </p:nvSpPr>
        <p:spPr>
          <a:xfrm>
            <a:off x="0" y="0"/>
            <a:ext cx="9143700" cy="754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3"/>
          <p:cNvSpPr txBox="1"/>
          <p:nvPr/>
        </p:nvSpPr>
        <p:spPr>
          <a:xfrm>
            <a:off x="319960" y="181046"/>
            <a:ext cx="850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set performance</a:t>
            </a:r>
            <a:endParaRPr sz="1100"/>
          </a:p>
        </p:txBody>
      </p:sp>
      <p:sp>
        <p:nvSpPr>
          <p:cNvPr id="595" name="Google Shape;595;p53"/>
          <p:cNvSpPr txBox="1"/>
          <p:nvPr/>
        </p:nvSpPr>
        <p:spPr>
          <a:xfrm>
            <a:off x="346050" y="4389000"/>
            <a:ext cx="8451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KPIs on test set and 100 bootstrap samples.  The GPT-4o classifier performs worse than expected across all bootstrap samples, while the Sonnet 3.5 classifier performs better.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53" title="bootstrap_hi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138" y="906900"/>
            <a:ext cx="6183727" cy="332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4"/>
          <p:cNvSpPr/>
          <p:nvPr/>
        </p:nvSpPr>
        <p:spPr>
          <a:xfrm>
            <a:off x="0" y="0"/>
            <a:ext cx="9143700" cy="754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4"/>
          <p:cNvSpPr txBox="1"/>
          <p:nvPr/>
        </p:nvSpPr>
        <p:spPr>
          <a:xfrm>
            <a:off x="319960" y="181046"/>
            <a:ext cx="850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hoc audit on t</a:t>
            </a: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rain-test split sensitivity</a:t>
            </a:r>
            <a:endParaRPr sz="1100"/>
          </a:p>
        </p:txBody>
      </p:sp>
      <p:sp>
        <p:nvSpPr>
          <p:cNvPr id="604" name="Google Shape;604;p54"/>
          <p:cNvSpPr txBox="1"/>
          <p:nvPr/>
        </p:nvSpPr>
        <p:spPr>
          <a:xfrm>
            <a:off x="346050" y="4134375"/>
            <a:ext cx="8451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KPIs on 100 random train-test splits. In particular, the GPT-4o classifier’s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performance is much better across the additional train-test splits.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5" name="Google Shape;605;p54" title="split_sensitivity_hi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9013"/>
            <a:ext cx="8839199" cy="252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5"/>
          <p:cNvSpPr/>
          <p:nvPr/>
        </p:nvSpPr>
        <p:spPr>
          <a:xfrm>
            <a:off x="0" y="0"/>
            <a:ext cx="9143700" cy="754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5"/>
          <p:cNvSpPr txBox="1"/>
          <p:nvPr/>
        </p:nvSpPr>
        <p:spPr>
          <a:xfrm>
            <a:off x="319960" y="181046"/>
            <a:ext cx="850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and next steps</a:t>
            </a:r>
            <a:endParaRPr sz="1100"/>
          </a:p>
        </p:txBody>
      </p:sp>
      <p:sp>
        <p:nvSpPr>
          <p:cNvPr id="613" name="Google Shape;613;p55"/>
          <p:cNvSpPr txBox="1"/>
          <p:nvPr/>
        </p:nvSpPr>
        <p:spPr>
          <a:xfrm>
            <a:off x="346200" y="976975"/>
            <a:ext cx="8451600" cy="3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Annotated CharXiv dataset is small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Further investigation should include data with more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Calibri"/>
              <a:buChar char="○"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More claim-evidence pairs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Calibri"/>
              <a:buChar char="○"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Subject representation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Calibri"/>
              <a:buChar char="○"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Rubric types (textual, visual, equation/mathematical)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Calibri"/>
              <a:buChar char="○"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Target VLMs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6"/>
          <p:cNvSpPr/>
          <p:nvPr/>
        </p:nvSpPr>
        <p:spPr>
          <a:xfrm>
            <a:off x="0" y="0"/>
            <a:ext cx="9143700" cy="7545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56"/>
          <p:cNvSpPr txBox="1"/>
          <p:nvPr/>
        </p:nvSpPr>
        <p:spPr>
          <a:xfrm>
            <a:off x="319960" y="181046"/>
            <a:ext cx="8503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r>
              <a:rPr b="1" lang="en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and decision relevance</a:t>
            </a:r>
            <a:endParaRPr sz="1100"/>
          </a:p>
        </p:txBody>
      </p:sp>
      <p:sp>
        <p:nvSpPr>
          <p:cNvPr id="621" name="Google Shape;621;p56"/>
          <p:cNvSpPr txBox="1"/>
          <p:nvPr/>
        </p:nvSpPr>
        <p:spPr>
          <a:xfrm>
            <a:off x="346200" y="976975"/>
            <a:ext cx="8451600" cy="3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Demand scores modestly predict VLM failure.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Emergent GS dimension carries informative signal.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Assist with routing to frontier VLMs.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Calibri"/>
              <a:buChar char="●"/>
            </a:pPr>
            <a:r>
              <a:rPr lang="en" sz="1700">
                <a:solidFill>
                  <a:srgbClr val="1B1B1B"/>
                </a:solidFill>
                <a:latin typeface="Calibri"/>
                <a:ea typeface="Calibri"/>
                <a:cs typeface="Calibri"/>
                <a:sym typeface="Calibri"/>
              </a:rPr>
              <a:t>Model-agnostic rubrics can transfer to new datasets and target models.</a:t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rgbClr val="1B1B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